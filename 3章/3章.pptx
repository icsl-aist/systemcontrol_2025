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37"/>
  </p:normalViewPr>
  <p:slideViewPr>
    <p:cSldViewPr snapToGrid="0">
      <p:cViewPr varScale="1">
        <p:scale>
          <a:sx n="103" d="100"/>
          <a:sy n="103" d="100"/>
        </p:scale>
        <p:origin x="89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97A09E-1E81-31CA-94A7-F4C4E070145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08C9089-86DE-D996-E4D7-46DB7F3EBB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95D989C-D582-EA2F-32CF-B4EA7B1A4554}"/>
              </a:ext>
            </a:extLst>
          </p:cNvPr>
          <p:cNvSpPr>
            <a:spLocks noGrp="1"/>
          </p:cNvSpPr>
          <p:nvPr>
            <p:ph type="dt" sz="half" idx="10"/>
          </p:nvPr>
        </p:nvSpPr>
        <p:spPr/>
        <p:txBody>
          <a:bodyPr/>
          <a:lstStyle/>
          <a:p>
            <a:fld id="{85EA93C7-BA5F-C14D-81F8-2DB5FD3ADA89}" type="datetimeFigureOut">
              <a:rPr kumimoji="1" lang="ja-JP" altLang="en-US" smtClean="0"/>
              <a:t>2025/4/10</a:t>
            </a:fld>
            <a:endParaRPr kumimoji="1" lang="ja-JP" altLang="en-US"/>
          </a:p>
        </p:txBody>
      </p:sp>
      <p:sp>
        <p:nvSpPr>
          <p:cNvPr id="5" name="フッター プレースホルダー 4">
            <a:extLst>
              <a:ext uri="{FF2B5EF4-FFF2-40B4-BE49-F238E27FC236}">
                <a16:creationId xmlns:a16="http://schemas.microsoft.com/office/drawing/2014/main" id="{F97E2047-DDED-7C6B-ECE6-85EFDC6EC6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24BD3B0-7F49-EB61-7395-D98BFF2A92B7}"/>
              </a:ext>
            </a:extLst>
          </p:cNvPr>
          <p:cNvSpPr>
            <a:spLocks noGrp="1"/>
          </p:cNvSpPr>
          <p:nvPr>
            <p:ph type="sldNum" sz="quarter" idx="12"/>
          </p:nvPr>
        </p:nvSpPr>
        <p:spPr/>
        <p:txBody>
          <a:bodyPr/>
          <a:lstStyle/>
          <a:p>
            <a:fld id="{B62D7B24-BD6A-3A41-A35D-3BFBB44A36BA}" type="slidenum">
              <a:rPr kumimoji="1" lang="ja-JP" altLang="en-US" smtClean="0"/>
              <a:t>‹#›</a:t>
            </a:fld>
            <a:endParaRPr kumimoji="1" lang="ja-JP" altLang="en-US"/>
          </a:p>
        </p:txBody>
      </p:sp>
    </p:spTree>
    <p:extLst>
      <p:ext uri="{BB962C8B-B14F-4D97-AF65-F5344CB8AC3E}">
        <p14:creationId xmlns:p14="http://schemas.microsoft.com/office/powerpoint/2010/main" val="702493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41189D-F0E4-2CC6-1773-BAE828CEECD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E736AA4-18BA-0015-3980-AC3B457BE38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81D7723-2A13-A271-03E0-78F9588D8429}"/>
              </a:ext>
            </a:extLst>
          </p:cNvPr>
          <p:cNvSpPr>
            <a:spLocks noGrp="1"/>
          </p:cNvSpPr>
          <p:nvPr>
            <p:ph type="dt" sz="half" idx="10"/>
          </p:nvPr>
        </p:nvSpPr>
        <p:spPr/>
        <p:txBody>
          <a:bodyPr/>
          <a:lstStyle/>
          <a:p>
            <a:fld id="{85EA93C7-BA5F-C14D-81F8-2DB5FD3ADA89}" type="datetimeFigureOut">
              <a:rPr kumimoji="1" lang="ja-JP" altLang="en-US" smtClean="0"/>
              <a:t>2025/4/10</a:t>
            </a:fld>
            <a:endParaRPr kumimoji="1" lang="ja-JP" altLang="en-US"/>
          </a:p>
        </p:txBody>
      </p:sp>
      <p:sp>
        <p:nvSpPr>
          <p:cNvPr id="5" name="フッター プレースホルダー 4">
            <a:extLst>
              <a:ext uri="{FF2B5EF4-FFF2-40B4-BE49-F238E27FC236}">
                <a16:creationId xmlns:a16="http://schemas.microsoft.com/office/drawing/2014/main" id="{190DD95F-EE4A-4B73-3FDA-06302CB593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8575F8D-6932-4C02-1C99-9FE2941ECA8C}"/>
              </a:ext>
            </a:extLst>
          </p:cNvPr>
          <p:cNvSpPr>
            <a:spLocks noGrp="1"/>
          </p:cNvSpPr>
          <p:nvPr>
            <p:ph type="sldNum" sz="quarter" idx="12"/>
          </p:nvPr>
        </p:nvSpPr>
        <p:spPr/>
        <p:txBody>
          <a:bodyPr/>
          <a:lstStyle/>
          <a:p>
            <a:fld id="{B62D7B24-BD6A-3A41-A35D-3BFBB44A36BA}" type="slidenum">
              <a:rPr kumimoji="1" lang="ja-JP" altLang="en-US" smtClean="0"/>
              <a:t>‹#›</a:t>
            </a:fld>
            <a:endParaRPr kumimoji="1" lang="ja-JP" altLang="en-US"/>
          </a:p>
        </p:txBody>
      </p:sp>
    </p:spTree>
    <p:extLst>
      <p:ext uri="{BB962C8B-B14F-4D97-AF65-F5344CB8AC3E}">
        <p14:creationId xmlns:p14="http://schemas.microsoft.com/office/powerpoint/2010/main" val="558901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CF4707-C233-8ACC-CE87-F0939CAD9FF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E69179C-DD08-7C2D-5069-8AD51A35F3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797A876-4820-7DC6-799E-9579F8087ABF}"/>
              </a:ext>
            </a:extLst>
          </p:cNvPr>
          <p:cNvSpPr>
            <a:spLocks noGrp="1"/>
          </p:cNvSpPr>
          <p:nvPr>
            <p:ph type="dt" sz="half" idx="10"/>
          </p:nvPr>
        </p:nvSpPr>
        <p:spPr/>
        <p:txBody>
          <a:bodyPr/>
          <a:lstStyle/>
          <a:p>
            <a:fld id="{85EA93C7-BA5F-C14D-81F8-2DB5FD3ADA89}" type="datetimeFigureOut">
              <a:rPr kumimoji="1" lang="ja-JP" altLang="en-US" smtClean="0"/>
              <a:t>2025/4/10</a:t>
            </a:fld>
            <a:endParaRPr kumimoji="1" lang="ja-JP" altLang="en-US"/>
          </a:p>
        </p:txBody>
      </p:sp>
      <p:sp>
        <p:nvSpPr>
          <p:cNvPr id="5" name="フッター プレースホルダー 4">
            <a:extLst>
              <a:ext uri="{FF2B5EF4-FFF2-40B4-BE49-F238E27FC236}">
                <a16:creationId xmlns:a16="http://schemas.microsoft.com/office/drawing/2014/main" id="{696B6D7A-3584-C709-084C-1B01C45779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66E8E6C-C37C-1EC7-719B-2DE42295D2B1}"/>
              </a:ext>
            </a:extLst>
          </p:cNvPr>
          <p:cNvSpPr>
            <a:spLocks noGrp="1"/>
          </p:cNvSpPr>
          <p:nvPr>
            <p:ph type="sldNum" sz="quarter" idx="12"/>
          </p:nvPr>
        </p:nvSpPr>
        <p:spPr/>
        <p:txBody>
          <a:bodyPr/>
          <a:lstStyle/>
          <a:p>
            <a:fld id="{B62D7B24-BD6A-3A41-A35D-3BFBB44A36BA}" type="slidenum">
              <a:rPr kumimoji="1" lang="ja-JP" altLang="en-US" smtClean="0"/>
              <a:t>‹#›</a:t>
            </a:fld>
            <a:endParaRPr kumimoji="1" lang="ja-JP" altLang="en-US"/>
          </a:p>
        </p:txBody>
      </p:sp>
    </p:spTree>
    <p:extLst>
      <p:ext uri="{BB962C8B-B14F-4D97-AF65-F5344CB8AC3E}">
        <p14:creationId xmlns:p14="http://schemas.microsoft.com/office/powerpoint/2010/main" val="208652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AC03DF-2E52-2765-F494-6E00096F58E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31851A7-FC34-AA23-21F2-167F68DF522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6F1C62E-87B7-5F00-F5BC-DCCC4DFB10B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3CA0314-517E-F4AC-D7D4-14446F57DDC8}"/>
              </a:ext>
            </a:extLst>
          </p:cNvPr>
          <p:cNvSpPr>
            <a:spLocks noGrp="1"/>
          </p:cNvSpPr>
          <p:nvPr>
            <p:ph type="dt" sz="half" idx="10"/>
          </p:nvPr>
        </p:nvSpPr>
        <p:spPr/>
        <p:txBody>
          <a:bodyPr/>
          <a:lstStyle/>
          <a:p>
            <a:fld id="{85EA93C7-BA5F-C14D-81F8-2DB5FD3ADA89}" type="datetimeFigureOut">
              <a:rPr kumimoji="1" lang="ja-JP" altLang="en-US" smtClean="0"/>
              <a:t>2025/4/10</a:t>
            </a:fld>
            <a:endParaRPr kumimoji="1" lang="ja-JP" altLang="en-US"/>
          </a:p>
        </p:txBody>
      </p:sp>
      <p:sp>
        <p:nvSpPr>
          <p:cNvPr id="6" name="フッター プレースホルダー 5">
            <a:extLst>
              <a:ext uri="{FF2B5EF4-FFF2-40B4-BE49-F238E27FC236}">
                <a16:creationId xmlns:a16="http://schemas.microsoft.com/office/drawing/2014/main" id="{C8C7AABC-8361-E942-046F-4D49A613066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9C946D7-6CA1-4D53-4925-F244407671D4}"/>
              </a:ext>
            </a:extLst>
          </p:cNvPr>
          <p:cNvSpPr>
            <a:spLocks noGrp="1"/>
          </p:cNvSpPr>
          <p:nvPr>
            <p:ph type="sldNum" sz="quarter" idx="12"/>
          </p:nvPr>
        </p:nvSpPr>
        <p:spPr/>
        <p:txBody>
          <a:bodyPr/>
          <a:lstStyle/>
          <a:p>
            <a:fld id="{B62D7B24-BD6A-3A41-A35D-3BFBB44A36BA}" type="slidenum">
              <a:rPr kumimoji="1" lang="ja-JP" altLang="en-US" smtClean="0"/>
              <a:t>‹#›</a:t>
            </a:fld>
            <a:endParaRPr kumimoji="1" lang="ja-JP" altLang="en-US"/>
          </a:p>
        </p:txBody>
      </p:sp>
    </p:spTree>
    <p:extLst>
      <p:ext uri="{BB962C8B-B14F-4D97-AF65-F5344CB8AC3E}">
        <p14:creationId xmlns:p14="http://schemas.microsoft.com/office/powerpoint/2010/main" val="1034533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9A4AA9-7D2B-BA64-6A93-7DC3533D8FB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1D3E69F-D612-C29F-7368-146149A198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B8802CE6-C1F3-BA23-49DA-792EE40A476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4D1C769-65B6-520C-97F1-693A195FF7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991F263-4816-0B23-B318-63DB4123997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D630FE2-0136-8348-6178-EB36C65A1C76}"/>
              </a:ext>
            </a:extLst>
          </p:cNvPr>
          <p:cNvSpPr>
            <a:spLocks noGrp="1"/>
          </p:cNvSpPr>
          <p:nvPr>
            <p:ph type="dt" sz="half" idx="10"/>
          </p:nvPr>
        </p:nvSpPr>
        <p:spPr/>
        <p:txBody>
          <a:bodyPr/>
          <a:lstStyle/>
          <a:p>
            <a:fld id="{85EA93C7-BA5F-C14D-81F8-2DB5FD3ADA89}" type="datetimeFigureOut">
              <a:rPr kumimoji="1" lang="ja-JP" altLang="en-US" smtClean="0"/>
              <a:t>2025/4/10</a:t>
            </a:fld>
            <a:endParaRPr kumimoji="1" lang="ja-JP" altLang="en-US"/>
          </a:p>
        </p:txBody>
      </p:sp>
      <p:sp>
        <p:nvSpPr>
          <p:cNvPr id="8" name="フッター プレースホルダー 7">
            <a:extLst>
              <a:ext uri="{FF2B5EF4-FFF2-40B4-BE49-F238E27FC236}">
                <a16:creationId xmlns:a16="http://schemas.microsoft.com/office/drawing/2014/main" id="{FC01166C-356F-2DBA-C1F5-FC0CA3EDAA4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1CCFF17-5541-3495-AC53-1FE1AFFAF62F}"/>
              </a:ext>
            </a:extLst>
          </p:cNvPr>
          <p:cNvSpPr>
            <a:spLocks noGrp="1"/>
          </p:cNvSpPr>
          <p:nvPr>
            <p:ph type="sldNum" sz="quarter" idx="12"/>
          </p:nvPr>
        </p:nvSpPr>
        <p:spPr/>
        <p:txBody>
          <a:bodyPr/>
          <a:lstStyle/>
          <a:p>
            <a:fld id="{B62D7B24-BD6A-3A41-A35D-3BFBB44A36BA}" type="slidenum">
              <a:rPr kumimoji="1" lang="ja-JP" altLang="en-US" smtClean="0"/>
              <a:t>‹#›</a:t>
            </a:fld>
            <a:endParaRPr kumimoji="1" lang="ja-JP" altLang="en-US"/>
          </a:p>
        </p:txBody>
      </p:sp>
    </p:spTree>
    <p:extLst>
      <p:ext uri="{BB962C8B-B14F-4D97-AF65-F5344CB8AC3E}">
        <p14:creationId xmlns:p14="http://schemas.microsoft.com/office/powerpoint/2010/main" val="3489823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12587F-A7CD-5BCF-B6DE-47A6C78FF5C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564A499-EC13-3C99-191E-5200667A2F07}"/>
              </a:ext>
            </a:extLst>
          </p:cNvPr>
          <p:cNvSpPr>
            <a:spLocks noGrp="1"/>
          </p:cNvSpPr>
          <p:nvPr>
            <p:ph type="dt" sz="half" idx="10"/>
          </p:nvPr>
        </p:nvSpPr>
        <p:spPr/>
        <p:txBody>
          <a:bodyPr/>
          <a:lstStyle/>
          <a:p>
            <a:fld id="{85EA93C7-BA5F-C14D-81F8-2DB5FD3ADA89}" type="datetimeFigureOut">
              <a:rPr kumimoji="1" lang="ja-JP" altLang="en-US" smtClean="0"/>
              <a:t>2025/4/10</a:t>
            </a:fld>
            <a:endParaRPr kumimoji="1" lang="ja-JP" altLang="en-US"/>
          </a:p>
        </p:txBody>
      </p:sp>
      <p:sp>
        <p:nvSpPr>
          <p:cNvPr id="4" name="フッター プレースホルダー 3">
            <a:extLst>
              <a:ext uri="{FF2B5EF4-FFF2-40B4-BE49-F238E27FC236}">
                <a16:creationId xmlns:a16="http://schemas.microsoft.com/office/drawing/2014/main" id="{CC10A80B-FDE5-FBD4-EBE3-845B194E1E4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9AD3DCE-EEE5-7843-CA84-8E2D84DB5095}"/>
              </a:ext>
            </a:extLst>
          </p:cNvPr>
          <p:cNvSpPr>
            <a:spLocks noGrp="1"/>
          </p:cNvSpPr>
          <p:nvPr>
            <p:ph type="sldNum" sz="quarter" idx="12"/>
          </p:nvPr>
        </p:nvSpPr>
        <p:spPr/>
        <p:txBody>
          <a:bodyPr/>
          <a:lstStyle/>
          <a:p>
            <a:fld id="{B62D7B24-BD6A-3A41-A35D-3BFBB44A36BA}" type="slidenum">
              <a:rPr kumimoji="1" lang="ja-JP" altLang="en-US" smtClean="0"/>
              <a:t>‹#›</a:t>
            </a:fld>
            <a:endParaRPr kumimoji="1" lang="ja-JP" altLang="en-US"/>
          </a:p>
        </p:txBody>
      </p:sp>
    </p:spTree>
    <p:extLst>
      <p:ext uri="{BB962C8B-B14F-4D97-AF65-F5344CB8AC3E}">
        <p14:creationId xmlns:p14="http://schemas.microsoft.com/office/powerpoint/2010/main" val="3752865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F82F6FD-3939-17FD-2910-553DB09309F4}"/>
              </a:ext>
            </a:extLst>
          </p:cNvPr>
          <p:cNvSpPr>
            <a:spLocks noGrp="1"/>
          </p:cNvSpPr>
          <p:nvPr>
            <p:ph type="dt" sz="half" idx="10"/>
          </p:nvPr>
        </p:nvSpPr>
        <p:spPr/>
        <p:txBody>
          <a:bodyPr/>
          <a:lstStyle/>
          <a:p>
            <a:fld id="{85EA93C7-BA5F-C14D-81F8-2DB5FD3ADA89}" type="datetimeFigureOut">
              <a:rPr kumimoji="1" lang="ja-JP" altLang="en-US" smtClean="0"/>
              <a:t>2025/4/10</a:t>
            </a:fld>
            <a:endParaRPr kumimoji="1" lang="ja-JP" altLang="en-US"/>
          </a:p>
        </p:txBody>
      </p:sp>
      <p:sp>
        <p:nvSpPr>
          <p:cNvPr id="3" name="フッター プレースホルダー 2">
            <a:extLst>
              <a:ext uri="{FF2B5EF4-FFF2-40B4-BE49-F238E27FC236}">
                <a16:creationId xmlns:a16="http://schemas.microsoft.com/office/drawing/2014/main" id="{B3E4C11E-5E51-41EF-A43A-953982D0223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77DD9BF-C589-DDAD-D84A-09B4CD545A06}"/>
              </a:ext>
            </a:extLst>
          </p:cNvPr>
          <p:cNvSpPr>
            <a:spLocks noGrp="1"/>
          </p:cNvSpPr>
          <p:nvPr>
            <p:ph type="sldNum" sz="quarter" idx="12"/>
          </p:nvPr>
        </p:nvSpPr>
        <p:spPr/>
        <p:txBody>
          <a:bodyPr/>
          <a:lstStyle/>
          <a:p>
            <a:fld id="{B62D7B24-BD6A-3A41-A35D-3BFBB44A36BA}" type="slidenum">
              <a:rPr kumimoji="1" lang="ja-JP" altLang="en-US" smtClean="0"/>
              <a:t>‹#›</a:t>
            </a:fld>
            <a:endParaRPr kumimoji="1" lang="ja-JP" altLang="en-US"/>
          </a:p>
        </p:txBody>
      </p:sp>
    </p:spTree>
    <p:extLst>
      <p:ext uri="{BB962C8B-B14F-4D97-AF65-F5344CB8AC3E}">
        <p14:creationId xmlns:p14="http://schemas.microsoft.com/office/powerpoint/2010/main" val="2069862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8E008A-CCEA-7092-03BA-54E2454BD81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8EF5F8-F3F0-282F-E35D-49EAE690C4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157C276-41EF-7F18-597E-BD2218D6A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85B6E58-DFDC-4633-36BB-D90A671473BE}"/>
              </a:ext>
            </a:extLst>
          </p:cNvPr>
          <p:cNvSpPr>
            <a:spLocks noGrp="1"/>
          </p:cNvSpPr>
          <p:nvPr>
            <p:ph type="dt" sz="half" idx="10"/>
          </p:nvPr>
        </p:nvSpPr>
        <p:spPr/>
        <p:txBody>
          <a:bodyPr/>
          <a:lstStyle/>
          <a:p>
            <a:fld id="{85EA93C7-BA5F-C14D-81F8-2DB5FD3ADA89}" type="datetimeFigureOut">
              <a:rPr kumimoji="1" lang="ja-JP" altLang="en-US" smtClean="0"/>
              <a:t>2025/4/10</a:t>
            </a:fld>
            <a:endParaRPr kumimoji="1" lang="ja-JP" altLang="en-US"/>
          </a:p>
        </p:txBody>
      </p:sp>
      <p:sp>
        <p:nvSpPr>
          <p:cNvPr id="6" name="フッター プレースホルダー 5">
            <a:extLst>
              <a:ext uri="{FF2B5EF4-FFF2-40B4-BE49-F238E27FC236}">
                <a16:creationId xmlns:a16="http://schemas.microsoft.com/office/drawing/2014/main" id="{299A9284-D500-E103-BA85-2CD5AF89551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143CA21-4E7D-E3E6-F656-9BD71F646F87}"/>
              </a:ext>
            </a:extLst>
          </p:cNvPr>
          <p:cNvSpPr>
            <a:spLocks noGrp="1"/>
          </p:cNvSpPr>
          <p:nvPr>
            <p:ph type="sldNum" sz="quarter" idx="12"/>
          </p:nvPr>
        </p:nvSpPr>
        <p:spPr/>
        <p:txBody>
          <a:bodyPr/>
          <a:lstStyle/>
          <a:p>
            <a:fld id="{B62D7B24-BD6A-3A41-A35D-3BFBB44A36BA}" type="slidenum">
              <a:rPr kumimoji="1" lang="ja-JP" altLang="en-US" smtClean="0"/>
              <a:t>‹#›</a:t>
            </a:fld>
            <a:endParaRPr kumimoji="1" lang="ja-JP" altLang="en-US"/>
          </a:p>
        </p:txBody>
      </p:sp>
    </p:spTree>
    <p:extLst>
      <p:ext uri="{BB962C8B-B14F-4D97-AF65-F5344CB8AC3E}">
        <p14:creationId xmlns:p14="http://schemas.microsoft.com/office/powerpoint/2010/main" val="2428590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23E0F8-963B-A219-E64C-0045A5D3C37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4333410-8353-4865-88E5-4BC60C703A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3130B9C-AB03-46C5-0A6F-6DF0E5541A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32E2C8C-57EE-FA16-1367-F9585F513A69}"/>
              </a:ext>
            </a:extLst>
          </p:cNvPr>
          <p:cNvSpPr>
            <a:spLocks noGrp="1"/>
          </p:cNvSpPr>
          <p:nvPr>
            <p:ph type="dt" sz="half" idx="10"/>
          </p:nvPr>
        </p:nvSpPr>
        <p:spPr/>
        <p:txBody>
          <a:bodyPr/>
          <a:lstStyle/>
          <a:p>
            <a:fld id="{85EA93C7-BA5F-C14D-81F8-2DB5FD3ADA89}" type="datetimeFigureOut">
              <a:rPr kumimoji="1" lang="ja-JP" altLang="en-US" smtClean="0"/>
              <a:t>2025/4/10</a:t>
            </a:fld>
            <a:endParaRPr kumimoji="1" lang="ja-JP" altLang="en-US"/>
          </a:p>
        </p:txBody>
      </p:sp>
      <p:sp>
        <p:nvSpPr>
          <p:cNvPr id="6" name="フッター プレースホルダー 5">
            <a:extLst>
              <a:ext uri="{FF2B5EF4-FFF2-40B4-BE49-F238E27FC236}">
                <a16:creationId xmlns:a16="http://schemas.microsoft.com/office/drawing/2014/main" id="{49A5D2E5-2A2C-8DA4-9BA4-BD7CABBBED9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523F16F-63D6-C38B-FE07-CABF14A3BE60}"/>
              </a:ext>
            </a:extLst>
          </p:cNvPr>
          <p:cNvSpPr>
            <a:spLocks noGrp="1"/>
          </p:cNvSpPr>
          <p:nvPr>
            <p:ph type="sldNum" sz="quarter" idx="12"/>
          </p:nvPr>
        </p:nvSpPr>
        <p:spPr/>
        <p:txBody>
          <a:bodyPr/>
          <a:lstStyle/>
          <a:p>
            <a:fld id="{B62D7B24-BD6A-3A41-A35D-3BFBB44A36BA}" type="slidenum">
              <a:rPr kumimoji="1" lang="ja-JP" altLang="en-US" smtClean="0"/>
              <a:t>‹#›</a:t>
            </a:fld>
            <a:endParaRPr kumimoji="1" lang="ja-JP" altLang="en-US"/>
          </a:p>
        </p:txBody>
      </p:sp>
    </p:spTree>
    <p:extLst>
      <p:ext uri="{BB962C8B-B14F-4D97-AF65-F5344CB8AC3E}">
        <p14:creationId xmlns:p14="http://schemas.microsoft.com/office/powerpoint/2010/main" val="1501677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D72006-FBE2-3AED-8F50-D2D6A030A1A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5B99330-9959-03CE-3151-62FF9DEFA3B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DE87094-E386-8B23-B946-411F1A4D2877}"/>
              </a:ext>
            </a:extLst>
          </p:cNvPr>
          <p:cNvSpPr>
            <a:spLocks noGrp="1"/>
          </p:cNvSpPr>
          <p:nvPr>
            <p:ph type="dt" sz="half" idx="10"/>
          </p:nvPr>
        </p:nvSpPr>
        <p:spPr/>
        <p:txBody>
          <a:bodyPr/>
          <a:lstStyle/>
          <a:p>
            <a:fld id="{85EA93C7-BA5F-C14D-81F8-2DB5FD3ADA89}" type="datetimeFigureOut">
              <a:rPr kumimoji="1" lang="ja-JP" altLang="en-US" smtClean="0"/>
              <a:t>2025/4/10</a:t>
            </a:fld>
            <a:endParaRPr kumimoji="1" lang="ja-JP" altLang="en-US"/>
          </a:p>
        </p:txBody>
      </p:sp>
      <p:sp>
        <p:nvSpPr>
          <p:cNvPr id="5" name="フッター プレースホルダー 4">
            <a:extLst>
              <a:ext uri="{FF2B5EF4-FFF2-40B4-BE49-F238E27FC236}">
                <a16:creationId xmlns:a16="http://schemas.microsoft.com/office/drawing/2014/main" id="{38A8067A-3741-CD28-9F05-29B14F8BEDE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59B6825-E026-9DD6-C73A-EDA7A22DCADD}"/>
              </a:ext>
            </a:extLst>
          </p:cNvPr>
          <p:cNvSpPr>
            <a:spLocks noGrp="1"/>
          </p:cNvSpPr>
          <p:nvPr>
            <p:ph type="sldNum" sz="quarter" idx="12"/>
          </p:nvPr>
        </p:nvSpPr>
        <p:spPr/>
        <p:txBody>
          <a:bodyPr/>
          <a:lstStyle/>
          <a:p>
            <a:fld id="{B62D7B24-BD6A-3A41-A35D-3BFBB44A36BA}" type="slidenum">
              <a:rPr kumimoji="1" lang="ja-JP" altLang="en-US" smtClean="0"/>
              <a:t>‹#›</a:t>
            </a:fld>
            <a:endParaRPr kumimoji="1" lang="ja-JP" altLang="en-US"/>
          </a:p>
        </p:txBody>
      </p:sp>
    </p:spTree>
    <p:extLst>
      <p:ext uri="{BB962C8B-B14F-4D97-AF65-F5344CB8AC3E}">
        <p14:creationId xmlns:p14="http://schemas.microsoft.com/office/powerpoint/2010/main" val="3214807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D63F99C-52EE-B1CA-989B-581235A8C4D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346E3C5-73DA-A0AB-896F-105BAE2219C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97AAE42-6D83-7B1F-C5A7-5C1CEB701C0E}"/>
              </a:ext>
            </a:extLst>
          </p:cNvPr>
          <p:cNvSpPr>
            <a:spLocks noGrp="1"/>
          </p:cNvSpPr>
          <p:nvPr>
            <p:ph type="dt" sz="half" idx="10"/>
          </p:nvPr>
        </p:nvSpPr>
        <p:spPr/>
        <p:txBody>
          <a:bodyPr/>
          <a:lstStyle/>
          <a:p>
            <a:fld id="{85EA93C7-BA5F-C14D-81F8-2DB5FD3ADA89}" type="datetimeFigureOut">
              <a:rPr kumimoji="1" lang="ja-JP" altLang="en-US" smtClean="0"/>
              <a:t>2025/4/10</a:t>
            </a:fld>
            <a:endParaRPr kumimoji="1" lang="ja-JP" altLang="en-US"/>
          </a:p>
        </p:txBody>
      </p:sp>
      <p:sp>
        <p:nvSpPr>
          <p:cNvPr id="5" name="フッター プレースホルダー 4">
            <a:extLst>
              <a:ext uri="{FF2B5EF4-FFF2-40B4-BE49-F238E27FC236}">
                <a16:creationId xmlns:a16="http://schemas.microsoft.com/office/drawing/2014/main" id="{0B8749A8-24F7-9B63-09C7-09D6494BC7A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7554958-2EA8-B846-C866-7464F5F439DB}"/>
              </a:ext>
            </a:extLst>
          </p:cNvPr>
          <p:cNvSpPr>
            <a:spLocks noGrp="1"/>
          </p:cNvSpPr>
          <p:nvPr>
            <p:ph type="sldNum" sz="quarter" idx="12"/>
          </p:nvPr>
        </p:nvSpPr>
        <p:spPr/>
        <p:txBody>
          <a:bodyPr/>
          <a:lstStyle/>
          <a:p>
            <a:fld id="{B62D7B24-BD6A-3A41-A35D-3BFBB44A36BA}" type="slidenum">
              <a:rPr kumimoji="1" lang="ja-JP" altLang="en-US" smtClean="0"/>
              <a:t>‹#›</a:t>
            </a:fld>
            <a:endParaRPr kumimoji="1" lang="ja-JP" altLang="en-US"/>
          </a:p>
        </p:txBody>
      </p:sp>
    </p:spTree>
    <p:extLst>
      <p:ext uri="{BB962C8B-B14F-4D97-AF65-F5344CB8AC3E}">
        <p14:creationId xmlns:p14="http://schemas.microsoft.com/office/powerpoint/2010/main" val="3920716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404297E-29B6-96E8-9899-E1F5944D24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19D0727-5060-E573-AA39-2B1A14526B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F26E152-2933-63DF-F1D3-479CDD532D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EA93C7-BA5F-C14D-81F8-2DB5FD3ADA89}" type="datetimeFigureOut">
              <a:rPr kumimoji="1" lang="ja-JP" altLang="en-US" smtClean="0"/>
              <a:t>2025/4/10</a:t>
            </a:fld>
            <a:endParaRPr kumimoji="1" lang="ja-JP" altLang="en-US"/>
          </a:p>
        </p:txBody>
      </p:sp>
      <p:sp>
        <p:nvSpPr>
          <p:cNvPr id="5" name="フッター プレースホルダー 4">
            <a:extLst>
              <a:ext uri="{FF2B5EF4-FFF2-40B4-BE49-F238E27FC236}">
                <a16:creationId xmlns:a16="http://schemas.microsoft.com/office/drawing/2014/main" id="{1EFA0254-5A20-FCD0-1D16-87DEA8809C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F2095C5-DF81-131E-6DDB-E31C179268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2D7B24-BD6A-3A41-A35D-3BFBB44A36BA}" type="slidenum">
              <a:rPr kumimoji="1" lang="ja-JP" altLang="en-US" smtClean="0"/>
              <a:t>‹#›</a:t>
            </a:fld>
            <a:endParaRPr kumimoji="1" lang="ja-JP" altLang="en-US"/>
          </a:p>
        </p:txBody>
      </p:sp>
    </p:spTree>
    <p:extLst>
      <p:ext uri="{BB962C8B-B14F-4D97-AF65-F5344CB8AC3E}">
        <p14:creationId xmlns:p14="http://schemas.microsoft.com/office/powerpoint/2010/main" val="69326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22BC9C-8557-D014-D19A-9AA2E736A673}"/>
              </a:ext>
            </a:extLst>
          </p:cNvPr>
          <p:cNvSpPr>
            <a:spLocks noGrp="1"/>
          </p:cNvSpPr>
          <p:nvPr>
            <p:ph type="ctrTitle"/>
          </p:nvPr>
        </p:nvSpPr>
        <p:spPr/>
        <p:txBody>
          <a:bodyPr/>
          <a:lstStyle/>
          <a:p>
            <a:r>
              <a:rPr kumimoji="1" lang="ja-JP" altLang="en-US"/>
              <a:t>制御のためのモデル</a:t>
            </a:r>
          </a:p>
        </p:txBody>
      </p:sp>
      <p:sp>
        <p:nvSpPr>
          <p:cNvPr id="3" name="字幕 2">
            <a:extLst>
              <a:ext uri="{FF2B5EF4-FFF2-40B4-BE49-F238E27FC236}">
                <a16:creationId xmlns:a16="http://schemas.microsoft.com/office/drawing/2014/main" id="{369CB5D8-E407-1B32-F0B6-00A57DAC545A}"/>
              </a:ext>
            </a:extLst>
          </p:cNvPr>
          <p:cNvSpPr>
            <a:spLocks noGrp="1"/>
          </p:cNvSpPr>
          <p:nvPr>
            <p:ph type="subTitle" idx="1"/>
          </p:nvPr>
        </p:nvSpPr>
        <p:spPr/>
        <p:txBody>
          <a:bodyPr/>
          <a:lstStyle/>
          <a:p>
            <a:r>
              <a:rPr kumimoji="1" lang="ja-JP" altLang="en-US"/>
              <a:t>第</a:t>
            </a:r>
            <a:r>
              <a:rPr kumimoji="1" lang="en-US" altLang="ja-JP" dirty="0"/>
              <a:t>3</a:t>
            </a:r>
            <a:r>
              <a:rPr kumimoji="1" lang="ja-JP" altLang="en-US"/>
              <a:t>章</a:t>
            </a:r>
          </a:p>
        </p:txBody>
      </p:sp>
    </p:spTree>
    <p:extLst>
      <p:ext uri="{BB962C8B-B14F-4D97-AF65-F5344CB8AC3E}">
        <p14:creationId xmlns:p14="http://schemas.microsoft.com/office/powerpoint/2010/main" val="702289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A946A2-F215-B136-1800-2EC73350285C}"/>
              </a:ext>
            </a:extLst>
          </p:cNvPr>
          <p:cNvSpPr>
            <a:spLocks noGrp="1"/>
          </p:cNvSpPr>
          <p:nvPr>
            <p:ph type="title"/>
          </p:nvPr>
        </p:nvSpPr>
        <p:spPr>
          <a:xfrm>
            <a:off x="566351" y="0"/>
            <a:ext cx="10515600" cy="1325563"/>
          </a:xfrm>
        </p:spPr>
        <p:txBody>
          <a:bodyPr/>
          <a:lstStyle/>
          <a:p>
            <a:r>
              <a:rPr kumimoji="1" lang="ja-JP" altLang="en-US"/>
              <a:t>動的システム</a:t>
            </a:r>
          </a:p>
        </p:txBody>
      </p:sp>
      <p:sp>
        <p:nvSpPr>
          <p:cNvPr id="3" name="コンテンツ プレースホルダー 2">
            <a:extLst>
              <a:ext uri="{FF2B5EF4-FFF2-40B4-BE49-F238E27FC236}">
                <a16:creationId xmlns:a16="http://schemas.microsoft.com/office/drawing/2014/main" id="{8A7D4829-7724-13FB-0C45-F71BC1DE13EC}"/>
              </a:ext>
            </a:extLst>
          </p:cNvPr>
          <p:cNvSpPr>
            <a:spLocks noGrp="1"/>
          </p:cNvSpPr>
          <p:nvPr>
            <p:ph idx="1"/>
          </p:nvPr>
        </p:nvSpPr>
        <p:spPr>
          <a:xfrm>
            <a:off x="1060622" y="1002506"/>
            <a:ext cx="10515600" cy="646113"/>
          </a:xfrm>
        </p:spPr>
        <p:txBody>
          <a:bodyPr>
            <a:normAutofit/>
          </a:bodyPr>
          <a:lstStyle/>
          <a:p>
            <a:pPr marL="0" indent="0">
              <a:buNone/>
            </a:pPr>
            <a:r>
              <a:rPr kumimoji="1" lang="ja-JP" altLang="en-US" sz="3200"/>
              <a:t>現在の出力に過去の入力が関係するシステム</a:t>
            </a:r>
          </a:p>
        </p:txBody>
      </p:sp>
      <p:sp>
        <p:nvSpPr>
          <p:cNvPr id="4" name="タイトル 1">
            <a:extLst>
              <a:ext uri="{FF2B5EF4-FFF2-40B4-BE49-F238E27FC236}">
                <a16:creationId xmlns:a16="http://schemas.microsoft.com/office/drawing/2014/main" id="{0073CDA3-CAFC-8FFF-A7FC-BE222EDC8367}"/>
              </a:ext>
            </a:extLst>
          </p:cNvPr>
          <p:cNvSpPr txBox="1">
            <a:spLocks/>
          </p:cNvSpPr>
          <p:nvPr/>
        </p:nvSpPr>
        <p:spPr>
          <a:xfrm>
            <a:off x="566351" y="461524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a:t>静的システム</a:t>
            </a:r>
          </a:p>
        </p:txBody>
      </p:sp>
      <p:sp>
        <p:nvSpPr>
          <p:cNvPr id="5" name="コンテンツ プレースホルダー 2">
            <a:extLst>
              <a:ext uri="{FF2B5EF4-FFF2-40B4-BE49-F238E27FC236}">
                <a16:creationId xmlns:a16="http://schemas.microsoft.com/office/drawing/2014/main" id="{3DB50263-6790-C111-872F-8FF1642E2703}"/>
              </a:ext>
            </a:extLst>
          </p:cNvPr>
          <p:cNvSpPr txBox="1">
            <a:spLocks/>
          </p:cNvSpPr>
          <p:nvPr/>
        </p:nvSpPr>
        <p:spPr>
          <a:xfrm>
            <a:off x="948381" y="5643091"/>
            <a:ext cx="11086070" cy="6461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3200"/>
              <a:t>入力に対して出力がその瞬間の入力だけで決まるシステム</a:t>
            </a:r>
          </a:p>
        </p:txBody>
      </p:sp>
      <p:sp>
        <p:nvSpPr>
          <p:cNvPr id="6" name="コンテンツ プレースホルダー 2">
            <a:extLst>
              <a:ext uri="{FF2B5EF4-FFF2-40B4-BE49-F238E27FC236}">
                <a16:creationId xmlns:a16="http://schemas.microsoft.com/office/drawing/2014/main" id="{7637ACAC-E9DB-AE11-80E2-27CA6994BA97}"/>
              </a:ext>
            </a:extLst>
          </p:cNvPr>
          <p:cNvSpPr txBox="1">
            <a:spLocks/>
          </p:cNvSpPr>
          <p:nvPr/>
        </p:nvSpPr>
        <p:spPr>
          <a:xfrm>
            <a:off x="2704070" y="3105943"/>
            <a:ext cx="10515600" cy="6461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3200"/>
              <a:t>メモリを持っているかどうかの違い</a:t>
            </a:r>
          </a:p>
        </p:txBody>
      </p:sp>
    </p:spTree>
    <p:extLst>
      <p:ext uri="{BB962C8B-B14F-4D97-AF65-F5344CB8AC3E}">
        <p14:creationId xmlns:p14="http://schemas.microsoft.com/office/powerpoint/2010/main" val="865036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F6172-BA76-E26D-20FD-9C33E71C439D}"/>
            </a:ext>
          </a:extLst>
        </p:cNvPr>
        <p:cNvGrpSpPr/>
        <p:nvPr/>
      </p:nvGrpSpPr>
      <p:grpSpPr>
        <a:xfrm>
          <a:off x="0" y="0"/>
          <a:ext cx="0" cy="0"/>
          <a:chOff x="0" y="0"/>
          <a:chExt cx="0" cy="0"/>
        </a:xfrm>
      </p:grpSpPr>
      <p:sp>
        <p:nvSpPr>
          <p:cNvPr id="4" name="タイトル 1">
            <a:extLst>
              <a:ext uri="{FF2B5EF4-FFF2-40B4-BE49-F238E27FC236}">
                <a16:creationId xmlns:a16="http://schemas.microsoft.com/office/drawing/2014/main" id="{D177DEA1-E9DC-E6EF-4DAD-7EF4BD4B4316}"/>
              </a:ext>
            </a:extLst>
          </p:cNvPr>
          <p:cNvSpPr txBox="1">
            <a:spLocks/>
          </p:cNvSpPr>
          <p:nvPr/>
        </p:nvSpPr>
        <p:spPr>
          <a:xfrm>
            <a:off x="566351" y="-15447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a:t>静的システム</a:t>
            </a:r>
          </a:p>
        </p:txBody>
      </p:sp>
      <p:sp>
        <p:nvSpPr>
          <p:cNvPr id="5" name="コンテンツ プレースホルダー 2">
            <a:extLst>
              <a:ext uri="{FF2B5EF4-FFF2-40B4-BE49-F238E27FC236}">
                <a16:creationId xmlns:a16="http://schemas.microsoft.com/office/drawing/2014/main" id="{F15700FF-EF0C-67B9-74DD-0E893077D55D}"/>
              </a:ext>
            </a:extLst>
          </p:cNvPr>
          <p:cNvSpPr txBox="1">
            <a:spLocks/>
          </p:cNvSpPr>
          <p:nvPr/>
        </p:nvSpPr>
        <p:spPr>
          <a:xfrm>
            <a:off x="948381" y="873369"/>
            <a:ext cx="11086070" cy="6461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3200"/>
              <a:t>入力に対して出力がその瞬間の入力だけで決まるシステム</a:t>
            </a:r>
          </a:p>
        </p:txBody>
      </p:sp>
      <p:sp>
        <p:nvSpPr>
          <p:cNvPr id="11" name="コンテンツ プレースホルダー 2">
            <a:extLst>
              <a:ext uri="{FF2B5EF4-FFF2-40B4-BE49-F238E27FC236}">
                <a16:creationId xmlns:a16="http://schemas.microsoft.com/office/drawing/2014/main" id="{6F0B5A4C-340E-53D0-095C-B52FCBB4BA93}"/>
              </a:ext>
            </a:extLst>
          </p:cNvPr>
          <p:cNvSpPr txBox="1">
            <a:spLocks/>
          </p:cNvSpPr>
          <p:nvPr/>
        </p:nvSpPr>
        <p:spPr>
          <a:xfrm>
            <a:off x="655937" y="2927984"/>
            <a:ext cx="11086070" cy="6461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3200"/>
              <a:t>シャープペンシルで例えると</a:t>
            </a:r>
            <a:r>
              <a:rPr lang="en-US" altLang="ja-JP" sz="3200" dirty="0"/>
              <a:t>…</a:t>
            </a:r>
            <a:endParaRPr lang="ja-JP" altLang="en-US" sz="3200"/>
          </a:p>
        </p:txBody>
      </p:sp>
      <p:sp>
        <p:nvSpPr>
          <p:cNvPr id="12" name="コンテンツ プレースホルダー 2">
            <a:extLst>
              <a:ext uri="{FF2B5EF4-FFF2-40B4-BE49-F238E27FC236}">
                <a16:creationId xmlns:a16="http://schemas.microsoft.com/office/drawing/2014/main" id="{677AC417-2FEF-703C-CBFF-6848BF9F3E82}"/>
              </a:ext>
            </a:extLst>
          </p:cNvPr>
          <p:cNvSpPr txBox="1">
            <a:spLocks/>
          </p:cNvSpPr>
          <p:nvPr/>
        </p:nvSpPr>
        <p:spPr>
          <a:xfrm>
            <a:off x="655937" y="3574097"/>
            <a:ext cx="11086070" cy="6461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3200"/>
              <a:t>ノック：入力　カチッという音：出力</a:t>
            </a:r>
          </a:p>
        </p:txBody>
      </p:sp>
      <p:sp>
        <p:nvSpPr>
          <p:cNvPr id="13" name="コンテンツ プレースホルダー 2">
            <a:extLst>
              <a:ext uri="{FF2B5EF4-FFF2-40B4-BE49-F238E27FC236}">
                <a16:creationId xmlns:a16="http://schemas.microsoft.com/office/drawing/2014/main" id="{7E34BFCD-6639-57B1-4188-A883477EAF7C}"/>
              </a:ext>
            </a:extLst>
          </p:cNvPr>
          <p:cNvSpPr txBox="1">
            <a:spLocks/>
          </p:cNvSpPr>
          <p:nvPr/>
        </p:nvSpPr>
        <p:spPr>
          <a:xfrm>
            <a:off x="1286132" y="4866323"/>
            <a:ext cx="10242722" cy="12273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3200"/>
              <a:t>「カチッという音」は、現在の「ノック」のみよって決まり、過去のノックには影響されないため</a:t>
            </a:r>
          </a:p>
        </p:txBody>
      </p:sp>
    </p:spTree>
    <p:extLst>
      <p:ext uri="{BB962C8B-B14F-4D97-AF65-F5344CB8AC3E}">
        <p14:creationId xmlns:p14="http://schemas.microsoft.com/office/powerpoint/2010/main" val="2966795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8E185-3CBB-F366-46E3-C0D3DEA2B88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F17554-B7EA-0B86-BF6E-5AB3E93F03FC}"/>
              </a:ext>
            </a:extLst>
          </p:cNvPr>
          <p:cNvSpPr>
            <a:spLocks noGrp="1"/>
          </p:cNvSpPr>
          <p:nvPr>
            <p:ph type="title"/>
          </p:nvPr>
        </p:nvSpPr>
        <p:spPr>
          <a:xfrm>
            <a:off x="566351" y="0"/>
            <a:ext cx="10515600" cy="1325563"/>
          </a:xfrm>
        </p:spPr>
        <p:txBody>
          <a:bodyPr/>
          <a:lstStyle/>
          <a:p>
            <a:r>
              <a:rPr kumimoji="1" lang="ja-JP" altLang="en-US"/>
              <a:t>動的システム</a:t>
            </a:r>
          </a:p>
        </p:txBody>
      </p:sp>
      <p:sp>
        <p:nvSpPr>
          <p:cNvPr id="3" name="コンテンツ プレースホルダー 2">
            <a:extLst>
              <a:ext uri="{FF2B5EF4-FFF2-40B4-BE49-F238E27FC236}">
                <a16:creationId xmlns:a16="http://schemas.microsoft.com/office/drawing/2014/main" id="{046AB434-ADE6-F24F-134E-9355011F06EE}"/>
              </a:ext>
            </a:extLst>
          </p:cNvPr>
          <p:cNvSpPr>
            <a:spLocks noGrp="1"/>
          </p:cNvSpPr>
          <p:nvPr>
            <p:ph idx="1"/>
          </p:nvPr>
        </p:nvSpPr>
        <p:spPr>
          <a:xfrm>
            <a:off x="1060622" y="1002506"/>
            <a:ext cx="10515600" cy="646113"/>
          </a:xfrm>
        </p:spPr>
        <p:txBody>
          <a:bodyPr>
            <a:normAutofit/>
          </a:bodyPr>
          <a:lstStyle/>
          <a:p>
            <a:pPr marL="0" indent="0">
              <a:buNone/>
            </a:pPr>
            <a:r>
              <a:rPr kumimoji="1" lang="ja-JP" altLang="en-US" sz="3200"/>
              <a:t>現在の出力に過去の入力が関係するシステム</a:t>
            </a:r>
          </a:p>
        </p:txBody>
      </p:sp>
      <p:sp>
        <p:nvSpPr>
          <p:cNvPr id="7" name="コンテンツ プレースホルダー 2">
            <a:extLst>
              <a:ext uri="{FF2B5EF4-FFF2-40B4-BE49-F238E27FC236}">
                <a16:creationId xmlns:a16="http://schemas.microsoft.com/office/drawing/2014/main" id="{5D7EA94E-912E-DBA0-4FEF-62FD36EAE79C}"/>
              </a:ext>
            </a:extLst>
          </p:cNvPr>
          <p:cNvSpPr txBox="1">
            <a:spLocks/>
          </p:cNvSpPr>
          <p:nvPr/>
        </p:nvSpPr>
        <p:spPr>
          <a:xfrm>
            <a:off x="655937" y="2927984"/>
            <a:ext cx="11086070" cy="6461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3200"/>
              <a:t>シャープペンシルで例えると</a:t>
            </a:r>
            <a:r>
              <a:rPr lang="en-US" altLang="ja-JP" sz="3200" dirty="0"/>
              <a:t>…</a:t>
            </a:r>
            <a:endParaRPr lang="ja-JP" altLang="en-US" sz="3200"/>
          </a:p>
        </p:txBody>
      </p:sp>
      <p:sp>
        <p:nvSpPr>
          <p:cNvPr id="8" name="コンテンツ プレースホルダー 2">
            <a:extLst>
              <a:ext uri="{FF2B5EF4-FFF2-40B4-BE49-F238E27FC236}">
                <a16:creationId xmlns:a16="http://schemas.microsoft.com/office/drawing/2014/main" id="{3F0119B1-F61C-E0B8-5CF4-11F8F9A8AA0E}"/>
              </a:ext>
            </a:extLst>
          </p:cNvPr>
          <p:cNvSpPr txBox="1">
            <a:spLocks/>
          </p:cNvSpPr>
          <p:nvPr/>
        </p:nvSpPr>
        <p:spPr>
          <a:xfrm>
            <a:off x="655937" y="3574097"/>
            <a:ext cx="11086070" cy="64611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3200"/>
              <a:t>ノックする</a:t>
            </a:r>
            <a:r>
              <a:rPr lang="en-US" altLang="ja-JP" sz="3200" dirty="0"/>
              <a:t>/</a:t>
            </a:r>
            <a:r>
              <a:rPr lang="ja-JP" altLang="en-US" sz="3200"/>
              <a:t>しない：入力　現在外に出ている芯の長さ：出力</a:t>
            </a:r>
          </a:p>
        </p:txBody>
      </p:sp>
      <p:sp>
        <p:nvSpPr>
          <p:cNvPr id="9" name="コンテンツ プレースホルダー 2">
            <a:extLst>
              <a:ext uri="{FF2B5EF4-FFF2-40B4-BE49-F238E27FC236}">
                <a16:creationId xmlns:a16="http://schemas.microsoft.com/office/drawing/2014/main" id="{858C6CB9-4ECF-37CC-254F-7ECD2DE9F9FB}"/>
              </a:ext>
            </a:extLst>
          </p:cNvPr>
          <p:cNvSpPr txBox="1">
            <a:spLocks/>
          </p:cNvSpPr>
          <p:nvPr/>
        </p:nvSpPr>
        <p:spPr>
          <a:xfrm>
            <a:off x="1197061" y="4628151"/>
            <a:ext cx="10242722" cy="12273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3200"/>
              <a:t>「現在外に出ている芯の長さ」は現在の入力だけでは決まらず、過去にどれだけノックしたかの影響を受ける</a:t>
            </a:r>
          </a:p>
        </p:txBody>
      </p:sp>
    </p:spTree>
    <p:extLst>
      <p:ext uri="{BB962C8B-B14F-4D97-AF65-F5344CB8AC3E}">
        <p14:creationId xmlns:p14="http://schemas.microsoft.com/office/powerpoint/2010/main" val="2608426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5E6D4-16EB-C2EC-594D-B87701AA7357}"/>
            </a:ext>
          </a:extLst>
        </p:cNvPr>
        <p:cNvGrpSpPr/>
        <p:nvPr/>
      </p:nvGrpSpPr>
      <p:grpSpPr>
        <a:xfrm>
          <a:off x="0" y="0"/>
          <a:ext cx="0" cy="0"/>
          <a:chOff x="0" y="0"/>
          <a:chExt cx="0" cy="0"/>
        </a:xfrm>
      </p:grpSpPr>
      <p:pic>
        <p:nvPicPr>
          <p:cNvPr id="12" name="図 11" descr="テキスト, 手紙&#10;&#10;AI によって生成されたコンテンツは間違っている可能性があります。">
            <a:extLst>
              <a:ext uri="{FF2B5EF4-FFF2-40B4-BE49-F238E27FC236}">
                <a16:creationId xmlns:a16="http://schemas.microsoft.com/office/drawing/2014/main" id="{4C0A56C1-7D24-B52B-43AF-253AB8CAF3FC}"/>
              </a:ext>
            </a:extLst>
          </p:cNvPr>
          <p:cNvPicPr>
            <a:picLocks noChangeAspect="1"/>
          </p:cNvPicPr>
          <p:nvPr/>
        </p:nvPicPr>
        <p:blipFill>
          <a:blip r:embed="rId2"/>
          <a:stretch>
            <a:fillRect/>
          </a:stretch>
        </p:blipFill>
        <p:spPr>
          <a:xfrm>
            <a:off x="158063" y="686572"/>
            <a:ext cx="8551658" cy="5484856"/>
          </a:xfrm>
          <a:prstGeom prst="rect">
            <a:avLst/>
          </a:prstGeom>
        </p:spPr>
      </p:pic>
    </p:spTree>
    <p:extLst>
      <p:ext uri="{BB962C8B-B14F-4D97-AF65-F5344CB8AC3E}">
        <p14:creationId xmlns:p14="http://schemas.microsoft.com/office/powerpoint/2010/main" val="685193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A96E8-4380-1460-FBE7-0EA1AA7ABD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6D8619E-9DD1-9DC7-0CBF-B693BC6B22E4}"/>
              </a:ext>
            </a:extLst>
          </p:cNvPr>
          <p:cNvSpPr>
            <a:spLocks noGrp="1"/>
          </p:cNvSpPr>
          <p:nvPr>
            <p:ph type="title"/>
          </p:nvPr>
        </p:nvSpPr>
        <p:spPr>
          <a:xfrm>
            <a:off x="566351" y="0"/>
            <a:ext cx="10515600" cy="1325563"/>
          </a:xfrm>
        </p:spPr>
        <p:txBody>
          <a:bodyPr/>
          <a:lstStyle/>
          <a:p>
            <a:r>
              <a:rPr kumimoji="1" lang="ja-JP" altLang="en-US"/>
              <a:t>状態空間モデル　　プログラムコード</a:t>
            </a:r>
          </a:p>
        </p:txBody>
      </p:sp>
      <p:sp>
        <p:nvSpPr>
          <p:cNvPr id="3" name="コンテンツ プレースホルダー 2">
            <a:extLst>
              <a:ext uri="{FF2B5EF4-FFF2-40B4-BE49-F238E27FC236}">
                <a16:creationId xmlns:a16="http://schemas.microsoft.com/office/drawing/2014/main" id="{0037DA78-4421-5B86-E07F-AB8E3CEF4565}"/>
              </a:ext>
            </a:extLst>
          </p:cNvPr>
          <p:cNvSpPr>
            <a:spLocks noGrp="1"/>
          </p:cNvSpPr>
          <p:nvPr>
            <p:ph idx="1"/>
          </p:nvPr>
        </p:nvSpPr>
        <p:spPr>
          <a:xfrm>
            <a:off x="1060622" y="1002506"/>
            <a:ext cx="9257270" cy="646113"/>
          </a:xfrm>
        </p:spPr>
        <p:txBody>
          <a:bodyPr>
            <a:noAutofit/>
          </a:bodyPr>
          <a:lstStyle/>
          <a:p>
            <a:pPr marL="0" indent="0">
              <a:buNone/>
            </a:pPr>
            <a:r>
              <a:rPr kumimoji="1" lang="ja-JP" altLang="en-US" sz="3200"/>
              <a:t>行列表現を用いて、多元高階の微分方程式を</a:t>
            </a:r>
            <a:r>
              <a:rPr lang="en-US" altLang="ja-JP" sz="3200" dirty="0"/>
              <a:t>1</a:t>
            </a:r>
            <a:r>
              <a:rPr lang="ja-JP" altLang="en-US" sz="3200"/>
              <a:t>階の微分方程式で表現するもの</a:t>
            </a:r>
            <a:endParaRPr kumimoji="1" lang="ja-JP" altLang="en-US" sz="3200"/>
          </a:p>
        </p:txBody>
      </p:sp>
      <p:pic>
        <p:nvPicPr>
          <p:cNvPr id="6" name="図 5" descr="テキスト&#10;&#10;AI によって生成されたコンテンツは間違っている可能性があります。">
            <a:extLst>
              <a:ext uri="{FF2B5EF4-FFF2-40B4-BE49-F238E27FC236}">
                <a16:creationId xmlns:a16="http://schemas.microsoft.com/office/drawing/2014/main" id="{BB641987-ED89-A981-8D57-35FB1EBE26C7}"/>
              </a:ext>
            </a:extLst>
          </p:cNvPr>
          <p:cNvPicPr>
            <a:picLocks noChangeAspect="1"/>
          </p:cNvPicPr>
          <p:nvPr/>
        </p:nvPicPr>
        <p:blipFill>
          <a:blip r:embed="rId2"/>
          <a:stretch>
            <a:fillRect/>
          </a:stretch>
        </p:blipFill>
        <p:spPr>
          <a:xfrm>
            <a:off x="723127" y="1963544"/>
            <a:ext cx="3564668" cy="4811137"/>
          </a:xfrm>
          <a:prstGeom prst="rect">
            <a:avLst/>
          </a:prstGeom>
        </p:spPr>
      </p:pic>
      <p:sp>
        <p:nvSpPr>
          <p:cNvPr id="10" name="テキスト ボックス 9">
            <a:extLst>
              <a:ext uri="{FF2B5EF4-FFF2-40B4-BE49-F238E27FC236}">
                <a16:creationId xmlns:a16="http://schemas.microsoft.com/office/drawing/2014/main" id="{F6BAE960-E4DF-7757-66ED-D76EB5FC87D3}"/>
              </a:ext>
            </a:extLst>
          </p:cNvPr>
          <p:cNvSpPr txBox="1"/>
          <p:nvPr/>
        </p:nvSpPr>
        <p:spPr>
          <a:xfrm>
            <a:off x="4955059" y="4213655"/>
            <a:ext cx="5251622" cy="1200329"/>
          </a:xfrm>
          <a:prstGeom prst="rect">
            <a:avLst/>
          </a:prstGeom>
          <a:noFill/>
        </p:spPr>
        <p:txBody>
          <a:bodyPr wrap="square" rtlCol="0">
            <a:spAutoFit/>
          </a:bodyPr>
          <a:lstStyle/>
          <a:p>
            <a:r>
              <a:rPr lang="en-US" altLang="ja-JP" dirty="0"/>
              <a:t>s</a:t>
            </a:r>
            <a:r>
              <a:rPr kumimoji="1" lang="en-US" altLang="ja-JP" dirty="0"/>
              <a:t>s(A, B, C, D)</a:t>
            </a:r>
          </a:p>
          <a:p>
            <a:r>
              <a:rPr lang="ja-JP" altLang="en-US" b="0" i="0">
                <a:solidFill>
                  <a:srgbClr val="0D0D0D"/>
                </a:solidFill>
                <a:effectLst/>
                <a:latin typeface="ui-sans-serif"/>
              </a:rPr>
              <a:t>状態空間モデルを作成する関数。行列 </a:t>
            </a:r>
            <a:r>
              <a:rPr lang="en" altLang="ja-JP" b="0" i="0" dirty="0">
                <a:solidFill>
                  <a:srgbClr val="0D0D0D"/>
                </a:solidFill>
                <a:effectLst/>
                <a:latin typeface="ui-sans-serif"/>
              </a:rPr>
              <a:t>A, B, C, D </a:t>
            </a:r>
            <a:r>
              <a:rPr lang="ja-JP" altLang="en-US" b="0" i="0">
                <a:solidFill>
                  <a:srgbClr val="0D0D0D"/>
                </a:solidFill>
                <a:effectLst/>
                <a:latin typeface="ui-sans-serif"/>
              </a:rPr>
              <a:t>を渡すことで、連続時間の状態空間モデルを定義できる</a:t>
            </a:r>
            <a:endParaRPr kumimoji="1" lang="ja-JP" altLang="en-US"/>
          </a:p>
        </p:txBody>
      </p:sp>
      <p:sp>
        <p:nvSpPr>
          <p:cNvPr id="11" name="テキスト ボックス 10">
            <a:extLst>
              <a:ext uri="{FF2B5EF4-FFF2-40B4-BE49-F238E27FC236}">
                <a16:creationId xmlns:a16="http://schemas.microsoft.com/office/drawing/2014/main" id="{C5D352B0-A1CE-039B-1765-201653981CAA}"/>
              </a:ext>
            </a:extLst>
          </p:cNvPr>
          <p:cNvSpPr txBox="1"/>
          <p:nvPr/>
        </p:nvSpPr>
        <p:spPr>
          <a:xfrm>
            <a:off x="4955059" y="2644345"/>
            <a:ext cx="4930346" cy="923330"/>
          </a:xfrm>
          <a:prstGeom prst="rect">
            <a:avLst/>
          </a:prstGeom>
          <a:noFill/>
        </p:spPr>
        <p:txBody>
          <a:bodyPr wrap="square" rtlCol="0">
            <a:spAutoFit/>
          </a:bodyPr>
          <a:lstStyle/>
          <a:p>
            <a:r>
              <a:rPr lang="en-US" altLang="ja-JP" dirty="0" err="1"/>
              <a:t>s</a:t>
            </a:r>
            <a:r>
              <a:rPr kumimoji="1" lang="en-US" altLang="ja-JP" dirty="0" err="1"/>
              <a:t>sdata</a:t>
            </a:r>
            <a:r>
              <a:rPr kumimoji="1" lang="en-US" altLang="ja-JP" dirty="0"/>
              <a:t>(system)</a:t>
            </a:r>
          </a:p>
          <a:p>
            <a:r>
              <a:rPr lang="en-US" altLang="ja-JP" b="0" i="0" dirty="0">
                <a:solidFill>
                  <a:srgbClr val="0D0D0D"/>
                </a:solidFill>
                <a:effectLst/>
                <a:latin typeface="ui-sans-serif"/>
              </a:rPr>
              <a:t>ss</a:t>
            </a:r>
            <a:r>
              <a:rPr lang="ja-JP" altLang="en-US" b="0" i="0">
                <a:solidFill>
                  <a:srgbClr val="0D0D0D"/>
                </a:solidFill>
                <a:effectLst/>
                <a:latin typeface="ui-sans-serif"/>
              </a:rPr>
              <a:t>で作成された状態空間モデル </a:t>
            </a:r>
            <a:r>
              <a:rPr lang="en" altLang="ja-JP" dirty="0"/>
              <a:t>system</a:t>
            </a:r>
            <a:r>
              <a:rPr lang="en" altLang="ja-JP" b="0" i="0" dirty="0">
                <a:solidFill>
                  <a:srgbClr val="0D0D0D"/>
                </a:solidFill>
                <a:effectLst/>
                <a:latin typeface="ui-sans-serif"/>
              </a:rPr>
              <a:t> </a:t>
            </a:r>
            <a:r>
              <a:rPr lang="ja-JP" altLang="en-US" b="0" i="0">
                <a:solidFill>
                  <a:srgbClr val="0D0D0D"/>
                </a:solidFill>
                <a:effectLst/>
                <a:latin typeface="ui-sans-serif"/>
              </a:rPr>
              <a:t>から、行列 </a:t>
            </a:r>
            <a:r>
              <a:rPr lang="en" altLang="ja-JP" b="0" i="0" dirty="0">
                <a:solidFill>
                  <a:srgbClr val="0D0D0D"/>
                </a:solidFill>
                <a:effectLst/>
                <a:latin typeface="ui-sans-serif"/>
              </a:rPr>
              <a:t>A, B, C, D </a:t>
            </a:r>
            <a:r>
              <a:rPr lang="ja-JP" altLang="en-US" b="0" i="0">
                <a:solidFill>
                  <a:srgbClr val="0D0D0D"/>
                </a:solidFill>
                <a:effectLst/>
                <a:latin typeface="ui-sans-serif"/>
              </a:rPr>
              <a:t>を取得する</a:t>
            </a:r>
            <a:endParaRPr kumimoji="1" lang="ja-JP" altLang="en-US"/>
          </a:p>
        </p:txBody>
      </p:sp>
    </p:spTree>
    <p:extLst>
      <p:ext uri="{BB962C8B-B14F-4D97-AF65-F5344CB8AC3E}">
        <p14:creationId xmlns:p14="http://schemas.microsoft.com/office/powerpoint/2010/main" val="1972032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7CAAA-A58A-42ED-4FE7-D9203255ACA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CF264B-6038-EBC8-F21B-7DACB88449EE}"/>
              </a:ext>
            </a:extLst>
          </p:cNvPr>
          <p:cNvSpPr>
            <a:spLocks noGrp="1"/>
          </p:cNvSpPr>
          <p:nvPr>
            <p:ph type="title"/>
          </p:nvPr>
        </p:nvSpPr>
        <p:spPr>
          <a:xfrm>
            <a:off x="566351" y="0"/>
            <a:ext cx="10515600" cy="1325563"/>
          </a:xfrm>
        </p:spPr>
        <p:txBody>
          <a:bodyPr/>
          <a:lstStyle/>
          <a:p>
            <a:r>
              <a:rPr kumimoji="1" lang="ja-JP" altLang="en-US"/>
              <a:t>状態関数モデル　　プログラムコード</a:t>
            </a:r>
          </a:p>
        </p:txBody>
      </p:sp>
      <p:sp>
        <p:nvSpPr>
          <p:cNvPr id="7" name="コンテンツ プレースホルダー 2">
            <a:extLst>
              <a:ext uri="{FF2B5EF4-FFF2-40B4-BE49-F238E27FC236}">
                <a16:creationId xmlns:a16="http://schemas.microsoft.com/office/drawing/2014/main" id="{B825C2D9-4DAC-F8C0-9881-F0B28006C6FD}"/>
              </a:ext>
            </a:extLst>
          </p:cNvPr>
          <p:cNvSpPr>
            <a:spLocks noGrp="1"/>
          </p:cNvSpPr>
          <p:nvPr>
            <p:ph idx="1"/>
          </p:nvPr>
        </p:nvSpPr>
        <p:spPr>
          <a:xfrm>
            <a:off x="1060622" y="1002506"/>
            <a:ext cx="9257270" cy="646113"/>
          </a:xfrm>
        </p:spPr>
        <p:txBody>
          <a:bodyPr>
            <a:noAutofit/>
          </a:bodyPr>
          <a:lstStyle/>
          <a:p>
            <a:pPr marL="0" indent="0">
              <a:buNone/>
            </a:pPr>
            <a:r>
              <a:rPr kumimoji="1" lang="ja-JP" altLang="en-US" sz="3200"/>
              <a:t>微分方程式の両辺を初期値</a:t>
            </a:r>
            <a:r>
              <a:rPr kumimoji="1" lang="en-US" altLang="ja-JP" sz="3200" dirty="0"/>
              <a:t>0</a:t>
            </a:r>
            <a:r>
              <a:rPr kumimoji="1" lang="ja-JP" altLang="en-US" sz="3200"/>
              <a:t>としてラプラス変換し、入力と出力のを考えることで得られる</a:t>
            </a:r>
          </a:p>
        </p:txBody>
      </p:sp>
      <p:pic>
        <p:nvPicPr>
          <p:cNvPr id="9" name="図 8" descr="テキスト&#10;&#10;AI によって生成されたコンテンツは間違っている可能性があります。">
            <a:extLst>
              <a:ext uri="{FF2B5EF4-FFF2-40B4-BE49-F238E27FC236}">
                <a16:creationId xmlns:a16="http://schemas.microsoft.com/office/drawing/2014/main" id="{DD4DEA89-6E40-4C21-0A41-21D7F00895FD}"/>
              </a:ext>
            </a:extLst>
          </p:cNvPr>
          <p:cNvPicPr>
            <a:picLocks noChangeAspect="1"/>
          </p:cNvPicPr>
          <p:nvPr/>
        </p:nvPicPr>
        <p:blipFill>
          <a:blip r:embed="rId2"/>
          <a:stretch>
            <a:fillRect/>
          </a:stretch>
        </p:blipFill>
        <p:spPr>
          <a:xfrm>
            <a:off x="340584" y="3213894"/>
            <a:ext cx="5905500" cy="3403600"/>
          </a:xfrm>
          <a:prstGeom prst="rect">
            <a:avLst/>
          </a:prstGeom>
        </p:spPr>
      </p:pic>
      <p:pic>
        <p:nvPicPr>
          <p:cNvPr id="13" name="図 12" descr="文字が書かれている&#10;&#10;AI によって生成されたコンテンツは間違っている可能性があります。">
            <a:extLst>
              <a:ext uri="{FF2B5EF4-FFF2-40B4-BE49-F238E27FC236}">
                <a16:creationId xmlns:a16="http://schemas.microsoft.com/office/drawing/2014/main" id="{DED71E20-F46E-CDAC-8680-1ABDB502E6DF}"/>
              </a:ext>
            </a:extLst>
          </p:cNvPr>
          <p:cNvPicPr>
            <a:picLocks noChangeAspect="1"/>
          </p:cNvPicPr>
          <p:nvPr/>
        </p:nvPicPr>
        <p:blipFill>
          <a:blip r:embed="rId3"/>
          <a:stretch>
            <a:fillRect/>
          </a:stretch>
        </p:blipFill>
        <p:spPr>
          <a:xfrm>
            <a:off x="1478606" y="2070475"/>
            <a:ext cx="2700428" cy="906860"/>
          </a:xfrm>
          <a:prstGeom prst="rect">
            <a:avLst/>
          </a:prstGeom>
        </p:spPr>
      </p:pic>
      <p:sp>
        <p:nvSpPr>
          <p:cNvPr id="14" name="テキスト ボックス 13">
            <a:extLst>
              <a:ext uri="{FF2B5EF4-FFF2-40B4-BE49-F238E27FC236}">
                <a16:creationId xmlns:a16="http://schemas.microsoft.com/office/drawing/2014/main" id="{300ACEDC-F0E6-DAED-E4BD-7BFA1B9E9706}"/>
              </a:ext>
            </a:extLst>
          </p:cNvPr>
          <p:cNvSpPr txBox="1"/>
          <p:nvPr/>
        </p:nvSpPr>
        <p:spPr>
          <a:xfrm>
            <a:off x="6685005" y="2466459"/>
            <a:ext cx="3385863" cy="369332"/>
          </a:xfrm>
          <a:prstGeom prst="rect">
            <a:avLst/>
          </a:prstGeom>
          <a:noFill/>
        </p:spPr>
        <p:txBody>
          <a:bodyPr wrap="none" rtlCol="0">
            <a:spAutoFit/>
          </a:bodyPr>
          <a:lstStyle/>
          <a:p>
            <a:r>
              <a:rPr lang="en" altLang="ja-JP" b="0" i="0" dirty="0" err="1">
                <a:solidFill>
                  <a:srgbClr val="0D0D0D"/>
                </a:solidFill>
                <a:effectLst/>
              </a:rPr>
              <a:t>tf</a:t>
            </a:r>
            <a:r>
              <a:rPr lang="en" altLang="ja-JP" b="0" i="0" dirty="0">
                <a:solidFill>
                  <a:srgbClr val="0D0D0D"/>
                </a:solidFill>
                <a:effectLst/>
              </a:rPr>
              <a:t> </a:t>
            </a:r>
            <a:r>
              <a:rPr lang="ja-JP" altLang="en-US" b="0" i="0">
                <a:solidFill>
                  <a:srgbClr val="0D0D0D"/>
                </a:solidFill>
                <a:effectLst/>
              </a:rPr>
              <a:t>は伝達関数を作成する関数。</a:t>
            </a:r>
          </a:p>
        </p:txBody>
      </p:sp>
      <p:sp>
        <p:nvSpPr>
          <p:cNvPr id="15" name="テキスト ボックス 14">
            <a:extLst>
              <a:ext uri="{FF2B5EF4-FFF2-40B4-BE49-F238E27FC236}">
                <a16:creationId xmlns:a16="http://schemas.microsoft.com/office/drawing/2014/main" id="{63911A31-F5A5-7503-ADF3-09B689747B47}"/>
              </a:ext>
            </a:extLst>
          </p:cNvPr>
          <p:cNvSpPr txBox="1"/>
          <p:nvPr/>
        </p:nvSpPr>
        <p:spPr>
          <a:xfrm>
            <a:off x="6685005" y="3046708"/>
            <a:ext cx="3941806" cy="646331"/>
          </a:xfrm>
          <a:prstGeom prst="rect">
            <a:avLst/>
          </a:prstGeom>
          <a:noFill/>
        </p:spPr>
        <p:txBody>
          <a:bodyPr wrap="square" rtlCol="0">
            <a:spAutoFit/>
          </a:bodyPr>
          <a:lstStyle/>
          <a:p>
            <a:r>
              <a:rPr lang="en" altLang="ja-JP" dirty="0" err="1"/>
              <a:t>tfdata</a:t>
            </a:r>
            <a:r>
              <a:rPr lang="en" altLang="ja-JP" b="0" i="0" dirty="0">
                <a:solidFill>
                  <a:srgbClr val="0D0D0D"/>
                </a:solidFill>
                <a:effectLst/>
                <a:latin typeface="ui-sans-serif"/>
              </a:rPr>
              <a:t> </a:t>
            </a:r>
            <a:r>
              <a:rPr lang="ja-JP" altLang="en-US" b="0" i="0">
                <a:solidFill>
                  <a:srgbClr val="0D0D0D"/>
                </a:solidFill>
                <a:effectLst/>
                <a:latin typeface="ui-sans-serif"/>
              </a:rPr>
              <a:t>は伝達関数から分子・分母データを取り出すための関数</a:t>
            </a:r>
            <a:endParaRPr kumimoji="1" lang="ja-JP" altLang="en-US"/>
          </a:p>
        </p:txBody>
      </p:sp>
      <p:sp>
        <p:nvSpPr>
          <p:cNvPr id="16" name="テキスト ボックス 15">
            <a:extLst>
              <a:ext uri="{FF2B5EF4-FFF2-40B4-BE49-F238E27FC236}">
                <a16:creationId xmlns:a16="http://schemas.microsoft.com/office/drawing/2014/main" id="{42D9EF79-35DE-AAA2-CE6B-8A440AEFCC5A}"/>
              </a:ext>
            </a:extLst>
          </p:cNvPr>
          <p:cNvSpPr txBox="1"/>
          <p:nvPr/>
        </p:nvSpPr>
        <p:spPr>
          <a:xfrm>
            <a:off x="6808573" y="4814019"/>
            <a:ext cx="4273378" cy="1200329"/>
          </a:xfrm>
          <a:prstGeom prst="rect">
            <a:avLst/>
          </a:prstGeom>
          <a:noFill/>
        </p:spPr>
        <p:txBody>
          <a:bodyPr wrap="square" rtlCol="0">
            <a:spAutoFit/>
          </a:bodyPr>
          <a:lstStyle/>
          <a:p>
            <a:r>
              <a:rPr lang="ja-JP" altLang="en-US" b="0" i="0">
                <a:solidFill>
                  <a:srgbClr val="0D0D0D"/>
                </a:solidFill>
                <a:effectLst/>
                <a:latin typeface="ui-sans-serif"/>
              </a:rPr>
              <a:t>この伝達関数は </a:t>
            </a:r>
            <a:r>
              <a:rPr lang="en-US" altLang="ja-JP" b="0" i="0" dirty="0">
                <a:solidFill>
                  <a:srgbClr val="0D0D0D"/>
                </a:solidFill>
                <a:effectLst/>
                <a:latin typeface="ui-sans-serif"/>
              </a:rPr>
              <a:t>1 </a:t>
            </a:r>
            <a:r>
              <a:rPr lang="ja-JP" altLang="en-US" b="0" i="0">
                <a:solidFill>
                  <a:srgbClr val="0D0D0D"/>
                </a:solidFill>
                <a:effectLst/>
                <a:latin typeface="ui-sans-serif"/>
              </a:rPr>
              <a:t>次のゼロ（</a:t>
            </a:r>
            <a:r>
              <a:rPr lang="en" altLang="ja-JP" b="0" i="0" dirty="0">
                <a:solidFill>
                  <a:srgbClr val="0D0D0D"/>
                </a:solidFill>
                <a:effectLst/>
                <a:latin typeface="ui-sans-serif"/>
              </a:rPr>
              <a:t>s </a:t>
            </a:r>
            <a:r>
              <a:rPr lang="ja-JP" altLang="en-US" b="0" i="0">
                <a:solidFill>
                  <a:srgbClr val="0D0D0D"/>
                </a:solidFill>
                <a:effectLst/>
                <a:latin typeface="ui-sans-serif"/>
              </a:rPr>
              <a:t>の分子）、</a:t>
            </a:r>
            <a:r>
              <a:rPr lang="en-US" altLang="ja-JP" b="0" i="0" dirty="0">
                <a:solidFill>
                  <a:srgbClr val="0D0D0D"/>
                </a:solidFill>
                <a:effectLst/>
                <a:latin typeface="ui-sans-serif"/>
              </a:rPr>
              <a:t>2 </a:t>
            </a:r>
            <a:r>
              <a:rPr lang="ja-JP" altLang="en-US" b="0" i="0">
                <a:solidFill>
                  <a:srgbClr val="0D0D0D"/>
                </a:solidFill>
                <a:effectLst/>
                <a:latin typeface="ui-sans-serif"/>
              </a:rPr>
              <a:t>次の極（</a:t>
            </a:r>
            <a:r>
              <a:rPr lang="en" altLang="ja-JP" b="0" i="0" dirty="0">
                <a:solidFill>
                  <a:srgbClr val="0D0D0D"/>
                </a:solidFill>
                <a:effectLst/>
                <a:latin typeface="ui-sans-serif"/>
              </a:rPr>
              <a:t>s^2 + 2s + 3</a:t>
            </a:r>
            <a:r>
              <a:rPr lang="ja-JP" altLang="en" b="0" i="0">
                <a:solidFill>
                  <a:srgbClr val="0D0D0D"/>
                </a:solidFill>
                <a:effectLst/>
                <a:latin typeface="ui-sans-serif"/>
              </a:rPr>
              <a:t>）</a:t>
            </a:r>
            <a:r>
              <a:rPr lang="ja-JP" altLang="en-US" b="0" i="0">
                <a:solidFill>
                  <a:srgbClr val="0D0D0D"/>
                </a:solidFill>
                <a:effectLst/>
                <a:latin typeface="ui-sans-serif"/>
              </a:rPr>
              <a:t>を持つシステムを表す。</a:t>
            </a:r>
          </a:p>
          <a:p>
            <a:endParaRPr kumimoji="1" lang="ja-JP" altLang="en-US"/>
          </a:p>
        </p:txBody>
      </p:sp>
    </p:spTree>
    <p:extLst>
      <p:ext uri="{BB962C8B-B14F-4D97-AF65-F5344CB8AC3E}">
        <p14:creationId xmlns:p14="http://schemas.microsoft.com/office/powerpoint/2010/main" val="1215353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94117-56E1-BFDA-D438-D4590D6F665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900735A-A52F-3173-81EE-A6E3232C6750}"/>
              </a:ext>
            </a:extLst>
          </p:cNvPr>
          <p:cNvSpPr>
            <a:spLocks noGrp="1"/>
          </p:cNvSpPr>
          <p:nvPr>
            <p:ph type="title"/>
          </p:nvPr>
        </p:nvSpPr>
        <p:spPr>
          <a:xfrm>
            <a:off x="566351" y="0"/>
            <a:ext cx="10515600" cy="1325563"/>
          </a:xfrm>
        </p:spPr>
        <p:txBody>
          <a:bodyPr/>
          <a:lstStyle/>
          <a:p>
            <a:r>
              <a:rPr kumimoji="1" lang="ja-JP" altLang="en-US"/>
              <a:t>状態空間モデルと状態関数モデルの変換</a:t>
            </a:r>
          </a:p>
        </p:txBody>
      </p:sp>
      <p:pic>
        <p:nvPicPr>
          <p:cNvPr id="8" name="図 7" descr="テキスト&#10;&#10;AI によって生成されたコンテンツは間違っている可能性があります。">
            <a:extLst>
              <a:ext uri="{FF2B5EF4-FFF2-40B4-BE49-F238E27FC236}">
                <a16:creationId xmlns:a16="http://schemas.microsoft.com/office/drawing/2014/main" id="{EEF9C984-C928-0A03-4BC1-F3EA49939699}"/>
              </a:ext>
            </a:extLst>
          </p:cNvPr>
          <p:cNvPicPr>
            <a:picLocks noChangeAspect="1"/>
          </p:cNvPicPr>
          <p:nvPr/>
        </p:nvPicPr>
        <p:blipFill>
          <a:blip r:embed="rId2"/>
          <a:stretch>
            <a:fillRect/>
          </a:stretch>
        </p:blipFill>
        <p:spPr>
          <a:xfrm>
            <a:off x="452345" y="1046896"/>
            <a:ext cx="4329720" cy="5595485"/>
          </a:xfrm>
          <a:prstGeom prst="rect">
            <a:avLst/>
          </a:prstGeom>
        </p:spPr>
      </p:pic>
      <p:pic>
        <p:nvPicPr>
          <p:cNvPr id="12" name="図 11" descr="テキスト, 手紙&#10;&#10;AI によって生成されたコンテンツは間違っている可能性があります。">
            <a:extLst>
              <a:ext uri="{FF2B5EF4-FFF2-40B4-BE49-F238E27FC236}">
                <a16:creationId xmlns:a16="http://schemas.microsoft.com/office/drawing/2014/main" id="{1264DD11-34DC-7C22-0A07-D25341880BF0}"/>
              </a:ext>
            </a:extLst>
          </p:cNvPr>
          <p:cNvPicPr>
            <a:picLocks noChangeAspect="1"/>
          </p:cNvPicPr>
          <p:nvPr/>
        </p:nvPicPr>
        <p:blipFill>
          <a:blip r:embed="rId3"/>
          <a:stretch>
            <a:fillRect/>
          </a:stretch>
        </p:blipFill>
        <p:spPr>
          <a:xfrm>
            <a:off x="6096000" y="2991366"/>
            <a:ext cx="3797300" cy="1270000"/>
          </a:xfrm>
          <a:prstGeom prst="rect">
            <a:avLst/>
          </a:prstGeom>
        </p:spPr>
      </p:pic>
    </p:spTree>
    <p:extLst>
      <p:ext uri="{BB962C8B-B14F-4D97-AF65-F5344CB8AC3E}">
        <p14:creationId xmlns:p14="http://schemas.microsoft.com/office/powerpoint/2010/main" val="3468880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0EA87-F2D0-EA7E-DDF9-D8E7EC61DC6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A23EA7F-A00B-5620-B4DF-F79E3D2C5CD2}"/>
              </a:ext>
            </a:extLst>
          </p:cNvPr>
          <p:cNvSpPr>
            <a:spLocks noGrp="1"/>
          </p:cNvSpPr>
          <p:nvPr>
            <p:ph type="title"/>
          </p:nvPr>
        </p:nvSpPr>
        <p:spPr>
          <a:xfrm>
            <a:off x="566351" y="0"/>
            <a:ext cx="10515600" cy="1325563"/>
          </a:xfrm>
        </p:spPr>
        <p:txBody>
          <a:bodyPr/>
          <a:lstStyle/>
          <a:p>
            <a:r>
              <a:rPr kumimoji="1" lang="ja-JP" altLang="en-US"/>
              <a:t>ブロック線図</a:t>
            </a:r>
          </a:p>
        </p:txBody>
      </p:sp>
      <p:sp>
        <p:nvSpPr>
          <p:cNvPr id="3" name="コンテンツ プレースホルダー 2">
            <a:extLst>
              <a:ext uri="{FF2B5EF4-FFF2-40B4-BE49-F238E27FC236}">
                <a16:creationId xmlns:a16="http://schemas.microsoft.com/office/drawing/2014/main" id="{CBBCADA2-3775-F760-E29B-37DFB3A4E1AB}"/>
              </a:ext>
            </a:extLst>
          </p:cNvPr>
          <p:cNvSpPr>
            <a:spLocks noGrp="1"/>
          </p:cNvSpPr>
          <p:nvPr>
            <p:ph idx="1"/>
          </p:nvPr>
        </p:nvSpPr>
        <p:spPr>
          <a:xfrm>
            <a:off x="1060622" y="1472063"/>
            <a:ext cx="10515600" cy="646113"/>
          </a:xfrm>
        </p:spPr>
        <p:txBody>
          <a:bodyPr>
            <a:noAutofit/>
          </a:bodyPr>
          <a:lstStyle/>
          <a:p>
            <a:pPr algn="l">
              <a:buNone/>
            </a:pPr>
            <a:r>
              <a:rPr lang="ja-JP" altLang="en-US" sz="3200" i="0">
                <a:solidFill>
                  <a:srgbClr val="0D0D0D"/>
                </a:solidFill>
                <a:effectLst/>
              </a:rPr>
              <a:t>制御システムの信号の流れや構成要素の関係を視覚的に図で表したもの</a:t>
            </a:r>
          </a:p>
        </p:txBody>
      </p:sp>
      <p:pic>
        <p:nvPicPr>
          <p:cNvPr id="5" name="図 4" descr="時計 が含まれている画像&#10;&#10;AI によって生成されたコンテンツは間違っている可能性があります。">
            <a:extLst>
              <a:ext uri="{FF2B5EF4-FFF2-40B4-BE49-F238E27FC236}">
                <a16:creationId xmlns:a16="http://schemas.microsoft.com/office/drawing/2014/main" id="{614E4F72-7022-B2DB-CCA0-AAAB739D6B2A}"/>
              </a:ext>
            </a:extLst>
          </p:cNvPr>
          <p:cNvPicPr>
            <a:picLocks noChangeAspect="1"/>
          </p:cNvPicPr>
          <p:nvPr/>
        </p:nvPicPr>
        <p:blipFill>
          <a:blip r:embed="rId2"/>
          <a:stretch>
            <a:fillRect/>
          </a:stretch>
        </p:blipFill>
        <p:spPr>
          <a:xfrm>
            <a:off x="3639091" y="3761751"/>
            <a:ext cx="4913817" cy="2399099"/>
          </a:xfrm>
          <a:prstGeom prst="rect">
            <a:avLst/>
          </a:prstGeom>
        </p:spPr>
      </p:pic>
    </p:spTree>
    <p:extLst>
      <p:ext uri="{BB962C8B-B14F-4D97-AF65-F5344CB8AC3E}">
        <p14:creationId xmlns:p14="http://schemas.microsoft.com/office/powerpoint/2010/main" val="299811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D50C6-98C5-71F9-48AF-E0ED3014A1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9A0410-68D8-F4AD-A867-96DD84EECEFE}"/>
              </a:ext>
            </a:extLst>
          </p:cNvPr>
          <p:cNvSpPr>
            <a:spLocks noGrp="1"/>
          </p:cNvSpPr>
          <p:nvPr>
            <p:ph type="title"/>
          </p:nvPr>
        </p:nvSpPr>
        <p:spPr>
          <a:xfrm>
            <a:off x="566351" y="0"/>
            <a:ext cx="10515600" cy="1325563"/>
          </a:xfrm>
        </p:spPr>
        <p:txBody>
          <a:bodyPr/>
          <a:lstStyle/>
          <a:p>
            <a:r>
              <a:rPr kumimoji="1" lang="ja-JP" altLang="en-US"/>
              <a:t>ブロック線図　直列結合</a:t>
            </a:r>
          </a:p>
        </p:txBody>
      </p:sp>
      <p:sp>
        <p:nvSpPr>
          <p:cNvPr id="9" name="コンテンツ プレースホルダー 2">
            <a:extLst>
              <a:ext uri="{FF2B5EF4-FFF2-40B4-BE49-F238E27FC236}">
                <a16:creationId xmlns:a16="http://schemas.microsoft.com/office/drawing/2014/main" id="{C139B1E9-2C88-78FE-179F-7DE0FD7D4B10}"/>
              </a:ext>
            </a:extLst>
          </p:cNvPr>
          <p:cNvSpPr txBox="1">
            <a:spLocks/>
          </p:cNvSpPr>
          <p:nvPr/>
        </p:nvSpPr>
        <p:spPr>
          <a:xfrm>
            <a:off x="1035907" y="1756268"/>
            <a:ext cx="10565027" cy="64611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3200" dirty="0"/>
              <a:t>2</a:t>
            </a:r>
            <a:r>
              <a:rPr lang="ja-JP" altLang="en-US" sz="3200"/>
              <a:t>つのシステムを直列に並べて、片方のシステムの出力をもう一方のシステムの入力となるように結合する</a:t>
            </a:r>
          </a:p>
        </p:txBody>
      </p:sp>
      <p:pic>
        <p:nvPicPr>
          <p:cNvPr id="11" name="図 10" descr="時計と文字の加工写真&#10;&#10;AI によって生成されたコンテンツは間違っている可能性があります。">
            <a:extLst>
              <a:ext uri="{FF2B5EF4-FFF2-40B4-BE49-F238E27FC236}">
                <a16:creationId xmlns:a16="http://schemas.microsoft.com/office/drawing/2014/main" id="{BEE0C7E4-E0DE-5B58-451A-6BB6D734C9A9}"/>
              </a:ext>
            </a:extLst>
          </p:cNvPr>
          <p:cNvPicPr>
            <a:picLocks noChangeAspect="1"/>
          </p:cNvPicPr>
          <p:nvPr/>
        </p:nvPicPr>
        <p:blipFill>
          <a:blip r:embed="rId2"/>
          <a:stretch>
            <a:fillRect/>
          </a:stretch>
        </p:blipFill>
        <p:spPr>
          <a:xfrm>
            <a:off x="3624477" y="4354255"/>
            <a:ext cx="4943046" cy="2246839"/>
          </a:xfrm>
          <a:prstGeom prst="rect">
            <a:avLst/>
          </a:prstGeom>
        </p:spPr>
      </p:pic>
    </p:spTree>
    <p:extLst>
      <p:ext uri="{BB962C8B-B14F-4D97-AF65-F5344CB8AC3E}">
        <p14:creationId xmlns:p14="http://schemas.microsoft.com/office/powerpoint/2010/main" val="171337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F116C-1C13-7B1E-0763-F5B6FF5D785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2DAE73-3843-DB49-6EDD-FD5AB4C0D4D7}"/>
              </a:ext>
            </a:extLst>
          </p:cNvPr>
          <p:cNvSpPr>
            <a:spLocks noGrp="1"/>
          </p:cNvSpPr>
          <p:nvPr>
            <p:ph type="title"/>
          </p:nvPr>
        </p:nvSpPr>
        <p:spPr>
          <a:xfrm>
            <a:off x="566351" y="0"/>
            <a:ext cx="10515600" cy="1325563"/>
          </a:xfrm>
        </p:spPr>
        <p:txBody>
          <a:bodyPr/>
          <a:lstStyle/>
          <a:p>
            <a:r>
              <a:rPr kumimoji="1" lang="ja-JP" altLang="en-US"/>
              <a:t>ブロック線図　直列結合</a:t>
            </a:r>
          </a:p>
        </p:txBody>
      </p:sp>
      <p:pic>
        <p:nvPicPr>
          <p:cNvPr id="4" name="図 3" descr="スクリーンショットの画面&#10;&#10;AI によって生成されたコンテンツは間違っている可能性があります。">
            <a:extLst>
              <a:ext uri="{FF2B5EF4-FFF2-40B4-BE49-F238E27FC236}">
                <a16:creationId xmlns:a16="http://schemas.microsoft.com/office/drawing/2014/main" id="{31C4A7EF-E20D-8C3F-B784-8879BC3E8693}"/>
              </a:ext>
            </a:extLst>
          </p:cNvPr>
          <p:cNvPicPr>
            <a:picLocks noChangeAspect="1"/>
          </p:cNvPicPr>
          <p:nvPr/>
        </p:nvPicPr>
        <p:blipFill>
          <a:blip r:embed="rId2"/>
          <a:stretch>
            <a:fillRect/>
          </a:stretch>
        </p:blipFill>
        <p:spPr>
          <a:xfrm>
            <a:off x="898483" y="1102068"/>
            <a:ext cx="5330997" cy="5406081"/>
          </a:xfrm>
          <a:prstGeom prst="rect">
            <a:avLst/>
          </a:prstGeom>
        </p:spPr>
      </p:pic>
      <p:pic>
        <p:nvPicPr>
          <p:cNvPr id="6" name="図 5" descr="時計 が含まれている画像&#10;&#10;AI によって生成されたコンテンツは間違っている可能性があります。">
            <a:extLst>
              <a:ext uri="{FF2B5EF4-FFF2-40B4-BE49-F238E27FC236}">
                <a16:creationId xmlns:a16="http://schemas.microsoft.com/office/drawing/2014/main" id="{D1A8824D-A888-EA22-E71D-93A69A30BCED}"/>
              </a:ext>
            </a:extLst>
          </p:cNvPr>
          <p:cNvPicPr>
            <a:picLocks noChangeAspect="1"/>
          </p:cNvPicPr>
          <p:nvPr/>
        </p:nvPicPr>
        <p:blipFill>
          <a:blip r:embed="rId3"/>
          <a:stretch>
            <a:fillRect/>
          </a:stretch>
        </p:blipFill>
        <p:spPr>
          <a:xfrm>
            <a:off x="6985000" y="1591051"/>
            <a:ext cx="1879600" cy="812800"/>
          </a:xfrm>
          <a:prstGeom prst="rect">
            <a:avLst/>
          </a:prstGeom>
        </p:spPr>
      </p:pic>
      <p:pic>
        <p:nvPicPr>
          <p:cNvPr id="8" name="図 7" descr="時計と文字の加工写真&#10;&#10;AI によって生成されたコンテンツは間違っている可能性があります。">
            <a:extLst>
              <a:ext uri="{FF2B5EF4-FFF2-40B4-BE49-F238E27FC236}">
                <a16:creationId xmlns:a16="http://schemas.microsoft.com/office/drawing/2014/main" id="{ECCE9EA8-7E2D-CA1B-AF39-4F604DDA24C5}"/>
              </a:ext>
            </a:extLst>
          </p:cNvPr>
          <p:cNvPicPr>
            <a:picLocks noChangeAspect="1"/>
          </p:cNvPicPr>
          <p:nvPr/>
        </p:nvPicPr>
        <p:blipFill>
          <a:blip r:embed="rId4"/>
          <a:stretch>
            <a:fillRect/>
          </a:stretch>
        </p:blipFill>
        <p:spPr>
          <a:xfrm>
            <a:off x="6985000" y="3142156"/>
            <a:ext cx="2425700" cy="774700"/>
          </a:xfrm>
          <a:prstGeom prst="rect">
            <a:avLst/>
          </a:prstGeom>
        </p:spPr>
      </p:pic>
      <p:pic>
        <p:nvPicPr>
          <p:cNvPr id="12" name="図 11" descr="グラフ&#10;&#10;AI によって生成されたコンテンツは間違っている可能性があります。">
            <a:extLst>
              <a:ext uri="{FF2B5EF4-FFF2-40B4-BE49-F238E27FC236}">
                <a16:creationId xmlns:a16="http://schemas.microsoft.com/office/drawing/2014/main" id="{42845ED8-5B54-0C96-390E-7B4BFC8E75EA}"/>
              </a:ext>
            </a:extLst>
          </p:cNvPr>
          <p:cNvPicPr>
            <a:picLocks noChangeAspect="1"/>
          </p:cNvPicPr>
          <p:nvPr/>
        </p:nvPicPr>
        <p:blipFill>
          <a:blip r:embed="rId5"/>
          <a:stretch>
            <a:fillRect/>
          </a:stretch>
        </p:blipFill>
        <p:spPr>
          <a:xfrm>
            <a:off x="5412603" y="5260632"/>
            <a:ext cx="6692900" cy="990600"/>
          </a:xfrm>
          <a:prstGeom prst="rect">
            <a:avLst/>
          </a:prstGeom>
        </p:spPr>
      </p:pic>
    </p:spTree>
    <p:extLst>
      <p:ext uri="{BB962C8B-B14F-4D97-AF65-F5344CB8AC3E}">
        <p14:creationId xmlns:p14="http://schemas.microsoft.com/office/powerpoint/2010/main" val="694215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E0735-13DC-7A72-1674-42E7B487E5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331665-025C-2876-E728-64B9B2893DB0}"/>
              </a:ext>
            </a:extLst>
          </p:cNvPr>
          <p:cNvSpPr>
            <a:spLocks noGrp="1"/>
          </p:cNvSpPr>
          <p:nvPr>
            <p:ph type="title"/>
          </p:nvPr>
        </p:nvSpPr>
        <p:spPr>
          <a:xfrm>
            <a:off x="566351" y="0"/>
            <a:ext cx="10515600" cy="1325563"/>
          </a:xfrm>
        </p:spPr>
        <p:txBody>
          <a:bodyPr/>
          <a:lstStyle/>
          <a:p>
            <a:r>
              <a:rPr kumimoji="1" lang="ja-JP" altLang="en-US"/>
              <a:t>ブロック線図　並列結合</a:t>
            </a:r>
          </a:p>
        </p:txBody>
      </p:sp>
      <p:sp>
        <p:nvSpPr>
          <p:cNvPr id="9" name="コンテンツ プレースホルダー 2">
            <a:extLst>
              <a:ext uri="{FF2B5EF4-FFF2-40B4-BE49-F238E27FC236}">
                <a16:creationId xmlns:a16="http://schemas.microsoft.com/office/drawing/2014/main" id="{5837E265-5AEA-D581-C387-52711AB489A0}"/>
              </a:ext>
            </a:extLst>
          </p:cNvPr>
          <p:cNvSpPr txBox="1">
            <a:spLocks/>
          </p:cNvSpPr>
          <p:nvPr/>
        </p:nvSpPr>
        <p:spPr>
          <a:xfrm>
            <a:off x="1035907" y="1756268"/>
            <a:ext cx="10565027" cy="9251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3200" dirty="0"/>
              <a:t>2</a:t>
            </a:r>
            <a:r>
              <a:rPr lang="ja-JP" altLang="en-US" sz="3200"/>
              <a:t>つのシステムを並列に並べて、入力を共通とし、それぞれの出力を足し合わせるように結合する</a:t>
            </a:r>
          </a:p>
        </p:txBody>
      </p:sp>
      <p:pic>
        <p:nvPicPr>
          <p:cNvPr id="4" name="図 3" descr="時計 が含まれている画像&#10;&#10;AI によって生成されたコンテンツは間違っている可能性があります。">
            <a:extLst>
              <a:ext uri="{FF2B5EF4-FFF2-40B4-BE49-F238E27FC236}">
                <a16:creationId xmlns:a16="http://schemas.microsoft.com/office/drawing/2014/main" id="{6732EDBE-1434-FC1E-F7C5-DFE255F34687}"/>
              </a:ext>
            </a:extLst>
          </p:cNvPr>
          <p:cNvPicPr>
            <a:picLocks noChangeAspect="1"/>
          </p:cNvPicPr>
          <p:nvPr/>
        </p:nvPicPr>
        <p:blipFill>
          <a:blip r:embed="rId2"/>
          <a:stretch>
            <a:fillRect/>
          </a:stretch>
        </p:blipFill>
        <p:spPr>
          <a:xfrm>
            <a:off x="4131960" y="2920485"/>
            <a:ext cx="4372919" cy="3600119"/>
          </a:xfrm>
          <a:prstGeom prst="rect">
            <a:avLst/>
          </a:prstGeom>
        </p:spPr>
      </p:pic>
    </p:spTree>
    <p:extLst>
      <p:ext uri="{BB962C8B-B14F-4D97-AF65-F5344CB8AC3E}">
        <p14:creationId xmlns:p14="http://schemas.microsoft.com/office/powerpoint/2010/main" val="3783254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8F51F-1795-125B-262A-5168AE384CA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F29058-4996-5E86-8705-2D1F7773448E}"/>
              </a:ext>
            </a:extLst>
          </p:cNvPr>
          <p:cNvSpPr>
            <a:spLocks noGrp="1"/>
          </p:cNvSpPr>
          <p:nvPr>
            <p:ph type="title"/>
          </p:nvPr>
        </p:nvSpPr>
        <p:spPr>
          <a:xfrm>
            <a:off x="566351" y="0"/>
            <a:ext cx="10515600" cy="1325563"/>
          </a:xfrm>
        </p:spPr>
        <p:txBody>
          <a:bodyPr/>
          <a:lstStyle/>
          <a:p>
            <a:r>
              <a:rPr kumimoji="1" lang="ja-JP" altLang="en-US"/>
              <a:t>ブロック線図　並列結合</a:t>
            </a:r>
          </a:p>
        </p:txBody>
      </p:sp>
      <p:pic>
        <p:nvPicPr>
          <p:cNvPr id="5" name="図 4" descr="テキスト, 手紙&#10;&#10;AI によって生成されたコンテンツは間違っている可能性があります。">
            <a:extLst>
              <a:ext uri="{FF2B5EF4-FFF2-40B4-BE49-F238E27FC236}">
                <a16:creationId xmlns:a16="http://schemas.microsoft.com/office/drawing/2014/main" id="{D89EB0E7-853C-B5A7-20D9-DBA7E8F57647}"/>
              </a:ext>
            </a:extLst>
          </p:cNvPr>
          <p:cNvPicPr>
            <a:picLocks noChangeAspect="1"/>
          </p:cNvPicPr>
          <p:nvPr/>
        </p:nvPicPr>
        <p:blipFill>
          <a:blip r:embed="rId2"/>
          <a:stretch>
            <a:fillRect/>
          </a:stretch>
        </p:blipFill>
        <p:spPr>
          <a:xfrm>
            <a:off x="829790" y="1212008"/>
            <a:ext cx="3846242" cy="5645992"/>
          </a:xfrm>
          <a:prstGeom prst="rect">
            <a:avLst/>
          </a:prstGeom>
        </p:spPr>
      </p:pic>
      <p:pic>
        <p:nvPicPr>
          <p:cNvPr id="9" name="図 8" descr="時計 が含まれている画像&#10;&#10;AI によって生成されたコンテンツは間違っている可能性があります。">
            <a:extLst>
              <a:ext uri="{FF2B5EF4-FFF2-40B4-BE49-F238E27FC236}">
                <a16:creationId xmlns:a16="http://schemas.microsoft.com/office/drawing/2014/main" id="{157F7681-08BF-C271-AB34-47F8A24040A3}"/>
              </a:ext>
            </a:extLst>
          </p:cNvPr>
          <p:cNvPicPr>
            <a:picLocks noChangeAspect="1"/>
          </p:cNvPicPr>
          <p:nvPr/>
        </p:nvPicPr>
        <p:blipFill>
          <a:blip r:embed="rId3"/>
          <a:stretch>
            <a:fillRect/>
          </a:stretch>
        </p:blipFill>
        <p:spPr>
          <a:xfrm>
            <a:off x="6096000" y="3322423"/>
            <a:ext cx="4813300" cy="1028700"/>
          </a:xfrm>
          <a:prstGeom prst="rect">
            <a:avLst/>
          </a:prstGeom>
        </p:spPr>
      </p:pic>
    </p:spTree>
    <p:extLst>
      <p:ext uri="{BB962C8B-B14F-4D97-AF65-F5344CB8AC3E}">
        <p14:creationId xmlns:p14="http://schemas.microsoft.com/office/powerpoint/2010/main" val="3928497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E9A17-9E38-41A5-0515-51EB3FAD08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74438B-177D-1B9E-74EA-93BB4D56E625}"/>
              </a:ext>
            </a:extLst>
          </p:cNvPr>
          <p:cNvSpPr>
            <a:spLocks noGrp="1"/>
          </p:cNvSpPr>
          <p:nvPr>
            <p:ph type="title"/>
          </p:nvPr>
        </p:nvSpPr>
        <p:spPr>
          <a:xfrm>
            <a:off x="566351" y="0"/>
            <a:ext cx="10515600" cy="1325563"/>
          </a:xfrm>
        </p:spPr>
        <p:txBody>
          <a:bodyPr/>
          <a:lstStyle/>
          <a:p>
            <a:r>
              <a:rPr kumimoji="1" lang="ja-JP" altLang="en-US"/>
              <a:t>ブロック線図　フィードバック結合</a:t>
            </a:r>
          </a:p>
        </p:txBody>
      </p:sp>
      <p:sp>
        <p:nvSpPr>
          <p:cNvPr id="9" name="コンテンツ プレースホルダー 2">
            <a:extLst>
              <a:ext uri="{FF2B5EF4-FFF2-40B4-BE49-F238E27FC236}">
                <a16:creationId xmlns:a16="http://schemas.microsoft.com/office/drawing/2014/main" id="{26F2958F-6562-D32E-4DC5-176069D981E6}"/>
              </a:ext>
            </a:extLst>
          </p:cNvPr>
          <p:cNvSpPr txBox="1">
            <a:spLocks/>
          </p:cNvSpPr>
          <p:nvPr/>
        </p:nvSpPr>
        <p:spPr>
          <a:xfrm>
            <a:off x="1060622" y="1325563"/>
            <a:ext cx="10565027" cy="9251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3200" dirty="0"/>
              <a:t>2</a:t>
            </a:r>
            <a:r>
              <a:rPr lang="ja-JP" altLang="en-US" sz="3200"/>
              <a:t>つのシステムを並列に並べて、互いの出力を互いの入力となるように結合する</a:t>
            </a:r>
          </a:p>
        </p:txBody>
      </p:sp>
      <p:pic>
        <p:nvPicPr>
          <p:cNvPr id="5" name="図 4" descr="テキスト が含まれている画像&#10;&#10;AI によって生成されたコンテンツは間違っている可能性があります。">
            <a:extLst>
              <a:ext uri="{FF2B5EF4-FFF2-40B4-BE49-F238E27FC236}">
                <a16:creationId xmlns:a16="http://schemas.microsoft.com/office/drawing/2014/main" id="{221AB277-041E-424B-7783-8CA260DE8294}"/>
              </a:ext>
            </a:extLst>
          </p:cNvPr>
          <p:cNvPicPr>
            <a:picLocks noChangeAspect="1"/>
          </p:cNvPicPr>
          <p:nvPr/>
        </p:nvPicPr>
        <p:blipFill>
          <a:blip r:embed="rId2"/>
          <a:stretch>
            <a:fillRect/>
          </a:stretch>
        </p:blipFill>
        <p:spPr>
          <a:xfrm>
            <a:off x="748442" y="2651125"/>
            <a:ext cx="6109558" cy="3589873"/>
          </a:xfrm>
          <a:prstGeom prst="rect">
            <a:avLst/>
          </a:prstGeom>
        </p:spPr>
      </p:pic>
      <p:pic>
        <p:nvPicPr>
          <p:cNvPr id="7" name="図 6" descr="時計 が含まれている画像&#10;&#10;AI によって生成されたコンテンツは間違っている可能性があります。">
            <a:extLst>
              <a:ext uri="{FF2B5EF4-FFF2-40B4-BE49-F238E27FC236}">
                <a16:creationId xmlns:a16="http://schemas.microsoft.com/office/drawing/2014/main" id="{23C69302-1F85-E20D-7474-6C681D3DFA23}"/>
              </a:ext>
            </a:extLst>
          </p:cNvPr>
          <p:cNvPicPr>
            <a:picLocks noChangeAspect="1"/>
          </p:cNvPicPr>
          <p:nvPr/>
        </p:nvPicPr>
        <p:blipFill>
          <a:blip r:embed="rId3"/>
          <a:stretch>
            <a:fillRect/>
          </a:stretch>
        </p:blipFill>
        <p:spPr>
          <a:xfrm>
            <a:off x="7040091" y="2776918"/>
            <a:ext cx="4585558" cy="3338286"/>
          </a:xfrm>
          <a:prstGeom prst="rect">
            <a:avLst/>
          </a:prstGeom>
        </p:spPr>
      </p:pic>
    </p:spTree>
    <p:extLst>
      <p:ext uri="{BB962C8B-B14F-4D97-AF65-F5344CB8AC3E}">
        <p14:creationId xmlns:p14="http://schemas.microsoft.com/office/powerpoint/2010/main" val="1429802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8F10A-D2F2-B5C9-F21A-05F66986D1F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C6A166-0674-54C9-247D-F4A07632076E}"/>
              </a:ext>
            </a:extLst>
          </p:cNvPr>
          <p:cNvSpPr>
            <a:spLocks noGrp="1"/>
          </p:cNvSpPr>
          <p:nvPr>
            <p:ph type="title"/>
          </p:nvPr>
        </p:nvSpPr>
        <p:spPr>
          <a:xfrm>
            <a:off x="566351" y="0"/>
            <a:ext cx="10515600" cy="1325563"/>
          </a:xfrm>
        </p:spPr>
        <p:txBody>
          <a:bodyPr/>
          <a:lstStyle/>
          <a:p>
            <a:r>
              <a:rPr kumimoji="1" lang="ja-JP" altLang="en-US"/>
              <a:t>ブロック線図　フィードバック結合</a:t>
            </a:r>
          </a:p>
        </p:txBody>
      </p:sp>
      <p:pic>
        <p:nvPicPr>
          <p:cNvPr id="4" name="図 3" descr="テキスト, 手紙&#10;&#10;AI によって生成されたコンテンツは間違っている可能性があります。">
            <a:extLst>
              <a:ext uri="{FF2B5EF4-FFF2-40B4-BE49-F238E27FC236}">
                <a16:creationId xmlns:a16="http://schemas.microsoft.com/office/drawing/2014/main" id="{49D0969D-16F4-3420-13AF-672FD6495F6A}"/>
              </a:ext>
            </a:extLst>
          </p:cNvPr>
          <p:cNvPicPr>
            <a:picLocks noChangeAspect="1"/>
          </p:cNvPicPr>
          <p:nvPr/>
        </p:nvPicPr>
        <p:blipFill>
          <a:blip r:embed="rId2"/>
          <a:stretch>
            <a:fillRect/>
          </a:stretch>
        </p:blipFill>
        <p:spPr>
          <a:xfrm>
            <a:off x="930018" y="1119487"/>
            <a:ext cx="3770570" cy="5707205"/>
          </a:xfrm>
          <a:prstGeom prst="rect">
            <a:avLst/>
          </a:prstGeom>
        </p:spPr>
      </p:pic>
      <p:pic>
        <p:nvPicPr>
          <p:cNvPr id="7" name="図 6" descr="テキスト, 手紙&#10;&#10;AI によって生成されたコンテンツは間違っている可能性があります。">
            <a:extLst>
              <a:ext uri="{FF2B5EF4-FFF2-40B4-BE49-F238E27FC236}">
                <a16:creationId xmlns:a16="http://schemas.microsoft.com/office/drawing/2014/main" id="{408E82FA-750E-F4DF-F662-7B5BF27A1DB8}"/>
              </a:ext>
            </a:extLst>
          </p:cNvPr>
          <p:cNvPicPr>
            <a:picLocks noChangeAspect="1"/>
          </p:cNvPicPr>
          <p:nvPr/>
        </p:nvPicPr>
        <p:blipFill>
          <a:blip r:embed="rId3"/>
          <a:stretch>
            <a:fillRect/>
          </a:stretch>
        </p:blipFill>
        <p:spPr>
          <a:xfrm>
            <a:off x="5191382" y="1514904"/>
            <a:ext cx="6070600" cy="1282700"/>
          </a:xfrm>
          <a:prstGeom prst="rect">
            <a:avLst/>
          </a:prstGeom>
        </p:spPr>
      </p:pic>
      <p:pic>
        <p:nvPicPr>
          <p:cNvPr id="10" name="図 9" descr="テキスト, 手紙&#10;&#10;AI によって生成されたコンテンツは間違っている可能性があります。">
            <a:extLst>
              <a:ext uri="{FF2B5EF4-FFF2-40B4-BE49-F238E27FC236}">
                <a16:creationId xmlns:a16="http://schemas.microsoft.com/office/drawing/2014/main" id="{5838CD91-7708-858D-A82F-8280C8572E76}"/>
              </a:ext>
            </a:extLst>
          </p:cNvPr>
          <p:cNvPicPr>
            <a:picLocks noChangeAspect="1"/>
          </p:cNvPicPr>
          <p:nvPr/>
        </p:nvPicPr>
        <p:blipFill>
          <a:blip r:embed="rId4"/>
          <a:stretch>
            <a:fillRect/>
          </a:stretch>
        </p:blipFill>
        <p:spPr>
          <a:xfrm>
            <a:off x="5289032" y="3271967"/>
            <a:ext cx="5702300" cy="2565400"/>
          </a:xfrm>
          <a:prstGeom prst="rect">
            <a:avLst/>
          </a:prstGeom>
        </p:spPr>
      </p:pic>
    </p:spTree>
    <p:extLst>
      <p:ext uri="{BB962C8B-B14F-4D97-AF65-F5344CB8AC3E}">
        <p14:creationId xmlns:p14="http://schemas.microsoft.com/office/powerpoint/2010/main" val="31018280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8313</TotalTime>
  <Words>456</Words>
  <Application>Microsoft Macintosh PowerPoint</Application>
  <PresentationFormat>ワイド画面</PresentationFormat>
  <Paragraphs>40</Paragraphs>
  <Slides>15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ui-sans-serif</vt:lpstr>
      <vt:lpstr>游ゴシック</vt:lpstr>
      <vt:lpstr>游ゴシック Light</vt:lpstr>
      <vt:lpstr>Arial</vt:lpstr>
      <vt:lpstr>Office テーマ</vt:lpstr>
      <vt:lpstr>制御のためのモデル</vt:lpstr>
      <vt:lpstr>動的システム</vt:lpstr>
      <vt:lpstr>PowerPoint プレゼンテーション</vt:lpstr>
      <vt:lpstr>動的システム</vt:lpstr>
      <vt:lpstr>PowerPoint プレゼンテーション</vt:lpstr>
      <vt:lpstr>状態空間モデル　　プログラムコード</vt:lpstr>
      <vt:lpstr>状態関数モデル　　プログラムコード</vt:lpstr>
      <vt:lpstr>状態空間モデルと状態関数モデルの変換</vt:lpstr>
      <vt:lpstr>ブロック線図</vt:lpstr>
      <vt:lpstr>ブロック線図　直列結合</vt:lpstr>
      <vt:lpstr>ブロック線図　直列結合</vt:lpstr>
      <vt:lpstr>ブロック線図　並列結合</vt:lpstr>
      <vt:lpstr>ブロック線図　並列結合</vt:lpstr>
      <vt:lpstr>ブロック線図　フィードバック結合</vt:lpstr>
      <vt:lpstr>ブロック線図　フィードバック結合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加藤　吾蓮</dc:creator>
  <cp:lastModifiedBy>加藤　吾蓮</cp:lastModifiedBy>
  <cp:revision>1</cp:revision>
  <cp:lastPrinted>2025-04-16T01:50:27Z</cp:lastPrinted>
  <dcterms:created xsi:type="dcterms:W3CDTF">2025-04-10T07:16:54Z</dcterms:created>
  <dcterms:modified xsi:type="dcterms:W3CDTF">2025-04-16T01:50:40Z</dcterms:modified>
</cp:coreProperties>
</file>